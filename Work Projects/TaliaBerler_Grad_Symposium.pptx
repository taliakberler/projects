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Playfair Display 1" pitchFamily="2" charset="77"/>
      <p:regular r:id="rId12"/>
    </p:embeddedFont>
    <p:embeddedFont>
      <p:font typeface="Playfair Display 1 Bold" pitchFamily="2" charset="77"/>
      <p:regular r:id="rId13"/>
      <p:bold r:id="rId14"/>
    </p:embeddedFont>
    <p:embeddedFont>
      <p:font typeface="Playfair Display 2" pitchFamily="2" charset="77"/>
      <p:regular r:id="rId15"/>
    </p:embeddedFont>
    <p:embeddedFont>
      <p:font typeface="Playfair Display 2 Bold" pitchFamily="2" charset="77"/>
      <p:regular r:id="rId16"/>
      <p:bold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875" autoAdjust="0"/>
    <p:restoredTop sz="46451" autoAdjust="0"/>
  </p:normalViewPr>
  <p:slideViewPr>
    <p:cSldViewPr>
      <p:cViewPr varScale="1">
        <p:scale>
          <a:sx n="25" d="100"/>
          <a:sy n="25" d="100"/>
        </p:scale>
        <p:origin x="176" y="3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5AE77B-5AA4-7845-81BD-379B8FF30CD7}" type="datetimeFigureOut">
              <a:rPr lang="en-US" smtClean="0"/>
              <a:t>3/23/25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1452C1-B89A-F248-8940-5115726832D0}" type="slidenum">
              <a:rPr lang="en-US" smtClean="0"/>
              <a:t>‹#›</a:t>
            </a:fld>
            <a:endParaRPr lang="en-US"/>
          </a:p>
        </p:txBody>
      </p:sp>
    </p:spTree>
    <p:extLst>
      <p:ext uri="{BB962C8B-B14F-4D97-AF65-F5344CB8AC3E}">
        <p14:creationId xmlns:p14="http://schemas.microsoft.com/office/powerpoint/2010/main" val="1242451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Introduction: name, school/degree</a:t>
            </a:r>
          </a:p>
          <a:p>
            <a:r>
              <a:rPr lang="en-US" dirty="0"/>
              <a:t>- title: developing ClassInsight, An agentic AIEd (AI Educational) application for responsive teaching</a:t>
            </a:r>
          </a:p>
        </p:txBody>
      </p:sp>
      <p:sp>
        <p:nvSpPr>
          <p:cNvPr id="4" name="Slide Number Placeholder 3"/>
          <p:cNvSpPr>
            <a:spLocks noGrp="1"/>
          </p:cNvSpPr>
          <p:nvPr>
            <p:ph type="sldNum" sz="quarter" idx="5"/>
          </p:nvPr>
        </p:nvSpPr>
        <p:spPr/>
        <p:txBody>
          <a:bodyPr/>
          <a:lstStyle/>
          <a:p>
            <a:fld id="{C71452C1-B89A-F248-8940-5115726832D0}" type="slidenum">
              <a:rPr lang="en-US" smtClean="0"/>
              <a:t>1</a:t>
            </a:fld>
            <a:endParaRPr lang="en-US"/>
          </a:p>
        </p:txBody>
      </p:sp>
    </p:spTree>
    <p:extLst>
      <p:ext uri="{BB962C8B-B14F-4D97-AF65-F5344CB8AC3E}">
        <p14:creationId xmlns:p14="http://schemas.microsoft.com/office/powerpoint/2010/main" val="1960575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read agenda</a:t>
            </a:r>
          </a:p>
        </p:txBody>
      </p:sp>
      <p:sp>
        <p:nvSpPr>
          <p:cNvPr id="4" name="Slide Number Placeholder 3"/>
          <p:cNvSpPr>
            <a:spLocks noGrp="1"/>
          </p:cNvSpPr>
          <p:nvPr>
            <p:ph type="sldNum" sz="quarter" idx="5"/>
          </p:nvPr>
        </p:nvSpPr>
        <p:spPr/>
        <p:txBody>
          <a:bodyPr/>
          <a:lstStyle/>
          <a:p>
            <a:fld id="{C71452C1-B89A-F248-8940-5115726832D0}" type="slidenum">
              <a:rPr lang="en-US" smtClean="0"/>
              <a:t>2</a:t>
            </a:fld>
            <a:endParaRPr lang="en-US"/>
          </a:p>
        </p:txBody>
      </p:sp>
    </p:spTree>
    <p:extLst>
      <p:ext uri="{BB962C8B-B14F-4D97-AF65-F5344CB8AC3E}">
        <p14:creationId xmlns:p14="http://schemas.microsoft.com/office/powerpoint/2010/main" val="5538314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Responsive teaching is a teaching method that adjusts instruction to meet the needs of each student, and is a key component of effective pedagogy</a:t>
            </a:r>
          </a:p>
          <a:p>
            <a:r>
              <a:rPr lang="en-US" dirty="0"/>
              <a:t>- It involves providing individualized feedback and instruction, which has been proven to be a more effective approach than generalized feedback to the class as a whole.</a:t>
            </a:r>
          </a:p>
          <a:p>
            <a:r>
              <a:rPr lang="en-US" dirty="0"/>
              <a:t>- Another critical component of responsive teaching is providing feedback and adjusting instruction in real-time, rather than after a period of time. The faster that instruction is adjusted, the greater the impact on student learning outcomes.</a:t>
            </a:r>
          </a:p>
          <a:p>
            <a:pPr marL="171450" indent="-171450">
              <a:buFontTx/>
              <a:buChar char="-"/>
            </a:pPr>
            <a:r>
              <a:rPr lang="en-US" dirty="0"/>
              <a:t>Big challenge particularly in humanities subjects, which often rely on free text assessments to check comprehension. It takes educators longer to review free response exercises than something like multiple choice or fill in the blank.</a:t>
            </a:r>
          </a:p>
          <a:p>
            <a:pPr marL="171450" indent="-171450">
              <a:buFontTx/>
              <a:buChar char="-"/>
            </a:pPr>
            <a:endParaRPr lang="en-US" dirty="0"/>
          </a:p>
          <a:p>
            <a:pPr marL="171450" indent="-171450">
              <a:buFontTx/>
              <a:buChar char="-"/>
            </a:pPr>
            <a:r>
              <a:rPr lang="en-US" dirty="0"/>
              <a:t>Traditional approaches to assessing comprehension do not sufficiently address the issue.</a:t>
            </a:r>
          </a:p>
          <a:p>
            <a:pPr marL="171450" indent="-171450">
              <a:buFontTx/>
              <a:buChar char="-"/>
            </a:pPr>
            <a:r>
              <a:rPr lang="en-US" dirty="0"/>
              <a:t>Asking a question to the class usually results in confident students responding</a:t>
            </a:r>
          </a:p>
          <a:p>
            <a:pPr marL="171450" indent="-171450">
              <a:buFontTx/>
              <a:buChar char="-"/>
            </a:pPr>
            <a:r>
              <a:rPr lang="en-US" dirty="0"/>
              <a:t>Discussions frequently face the same issue</a:t>
            </a:r>
          </a:p>
          <a:p>
            <a:pPr marL="171450" indent="-171450">
              <a:buFontTx/>
              <a:buChar char="-"/>
            </a:pPr>
            <a:r>
              <a:rPr lang="en-US" dirty="0"/>
              <a:t>Quizzes take a long time to grade and return feedback on, reducing the efficacy of said feedback</a:t>
            </a:r>
          </a:p>
        </p:txBody>
      </p:sp>
      <p:sp>
        <p:nvSpPr>
          <p:cNvPr id="4" name="Slide Number Placeholder 3"/>
          <p:cNvSpPr>
            <a:spLocks noGrp="1"/>
          </p:cNvSpPr>
          <p:nvPr>
            <p:ph type="sldNum" sz="quarter" idx="5"/>
          </p:nvPr>
        </p:nvSpPr>
        <p:spPr/>
        <p:txBody>
          <a:bodyPr/>
          <a:lstStyle/>
          <a:p>
            <a:fld id="{C71452C1-B89A-F248-8940-5115726832D0}" type="slidenum">
              <a:rPr lang="en-US" smtClean="0"/>
              <a:t>3</a:t>
            </a:fld>
            <a:endParaRPr lang="en-US"/>
          </a:p>
        </p:txBody>
      </p:sp>
    </p:spTree>
    <p:extLst>
      <p:ext uri="{BB962C8B-B14F-4D97-AF65-F5344CB8AC3E}">
        <p14:creationId xmlns:p14="http://schemas.microsoft.com/office/powerpoint/2010/main" val="7255068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The solution I present is the ClassInsight application. The app provides another option for assessing classroom comprehension in real-time, giving educators and students essential insights on overall understanding of in class material. </a:t>
            </a:r>
          </a:p>
          <a:p>
            <a:pPr marL="171450" indent="-171450">
              <a:buFontTx/>
              <a:buChar char="-"/>
            </a:pPr>
            <a:r>
              <a:rPr lang="en-US" dirty="0"/>
              <a:t>It is integral to point out, ClassInsight is not meant to be a grading tool, rather a checkpoint for instructors to get a sense of student’s understanding. This reduces any urge to cheat on ClassInsight exercises.</a:t>
            </a:r>
          </a:p>
          <a:p>
            <a:pPr marL="171450" indent="-171450">
              <a:buFontTx/>
              <a:buChar char="-"/>
            </a:pPr>
            <a:endParaRPr lang="en-US" dirty="0"/>
          </a:p>
          <a:p>
            <a:r>
              <a:rPr lang="en-US" dirty="0"/>
              <a:t>- The application takes the following inputs from the educator:</a:t>
            </a:r>
          </a:p>
          <a:p>
            <a:endParaRPr lang="en-US" dirty="0"/>
          </a:p>
          <a:p>
            <a:r>
              <a:rPr lang="en-US" dirty="0"/>
              <a:t>- ClassInsight then produces the following outputs:</a:t>
            </a:r>
          </a:p>
        </p:txBody>
      </p:sp>
      <p:sp>
        <p:nvSpPr>
          <p:cNvPr id="4" name="Slide Number Placeholder 3"/>
          <p:cNvSpPr>
            <a:spLocks noGrp="1"/>
          </p:cNvSpPr>
          <p:nvPr>
            <p:ph type="sldNum" sz="quarter" idx="5"/>
          </p:nvPr>
        </p:nvSpPr>
        <p:spPr/>
        <p:txBody>
          <a:bodyPr/>
          <a:lstStyle/>
          <a:p>
            <a:fld id="{C71452C1-B89A-F248-8940-5115726832D0}" type="slidenum">
              <a:rPr lang="en-US" smtClean="0"/>
              <a:t>4</a:t>
            </a:fld>
            <a:endParaRPr lang="en-US"/>
          </a:p>
        </p:txBody>
      </p:sp>
    </p:spTree>
    <p:extLst>
      <p:ext uri="{BB962C8B-B14F-4D97-AF65-F5344CB8AC3E}">
        <p14:creationId xmlns:p14="http://schemas.microsoft.com/office/powerpoint/2010/main" val="36519192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is a video of a prototype of the application's user interface, still under development</a:t>
            </a:r>
          </a:p>
        </p:txBody>
      </p:sp>
      <p:sp>
        <p:nvSpPr>
          <p:cNvPr id="4" name="Slide Number Placeholder 3"/>
          <p:cNvSpPr>
            <a:spLocks noGrp="1"/>
          </p:cNvSpPr>
          <p:nvPr>
            <p:ph type="sldNum" sz="quarter" idx="5"/>
          </p:nvPr>
        </p:nvSpPr>
        <p:spPr/>
        <p:txBody>
          <a:bodyPr/>
          <a:lstStyle/>
          <a:p>
            <a:fld id="{C71452C1-B89A-F248-8940-5115726832D0}" type="slidenum">
              <a:rPr lang="en-US" smtClean="0"/>
              <a:t>5</a:t>
            </a:fld>
            <a:endParaRPr lang="en-US"/>
          </a:p>
        </p:txBody>
      </p:sp>
    </p:spTree>
    <p:extLst>
      <p:ext uri="{BB962C8B-B14F-4D97-AF65-F5344CB8AC3E}">
        <p14:creationId xmlns:p14="http://schemas.microsoft.com/office/powerpoint/2010/main" val="4683931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I'm going to go through a brief explanation of the software  architecture underlying the ClassInsight application </a:t>
            </a:r>
          </a:p>
          <a:p>
            <a:pPr marL="171450" indent="-171450">
              <a:buFontTx/>
              <a:buChar char="-"/>
            </a:pPr>
            <a:r>
              <a:rPr lang="en-US" dirty="0"/>
              <a:t>explain: input channel, </a:t>
            </a:r>
          </a:p>
          <a:p>
            <a:pPr marL="171450" indent="-171450">
              <a:buFontTx/>
              <a:buChar char="-"/>
            </a:pPr>
            <a:r>
              <a:rPr lang="en-US" dirty="0"/>
              <a:t>agentic workflow: </a:t>
            </a:r>
            <a:r>
              <a:rPr lang="en-US" b="0" i="0" dirty="0">
                <a:solidFill>
                  <a:srgbClr val="001D35"/>
                </a:solidFill>
                <a:effectLst/>
                <a:latin typeface="Google Sans"/>
              </a:rPr>
              <a:t>series of connected, dynamically executed steps performed by AI agents to achieve a specific task or goal, leveraging the agents' ability to reason, use tools, and learn from experience</a:t>
            </a:r>
            <a:endParaRPr lang="en-US" dirty="0"/>
          </a:p>
          <a:p>
            <a:pPr marL="171450" indent="-171450">
              <a:buFontTx/>
              <a:buChar char="-"/>
            </a:pPr>
            <a:r>
              <a:rPr lang="en-US" dirty="0"/>
              <a:t>output channel</a:t>
            </a:r>
          </a:p>
          <a:p>
            <a:pPr marL="171450" indent="-171450">
              <a:buFontTx/>
              <a:buChar char="-"/>
            </a:pPr>
            <a:endParaRPr lang="en-US" dirty="0"/>
          </a:p>
          <a:p>
            <a:r>
              <a:rPr lang="en-US" dirty="0"/>
              <a:t>- code snippet on the right displaying a portion of the AI analysis of responses</a:t>
            </a:r>
          </a:p>
        </p:txBody>
      </p:sp>
      <p:sp>
        <p:nvSpPr>
          <p:cNvPr id="4" name="Slide Number Placeholder 3"/>
          <p:cNvSpPr>
            <a:spLocks noGrp="1"/>
          </p:cNvSpPr>
          <p:nvPr>
            <p:ph type="sldNum" sz="quarter" idx="5"/>
          </p:nvPr>
        </p:nvSpPr>
        <p:spPr/>
        <p:txBody>
          <a:bodyPr/>
          <a:lstStyle/>
          <a:p>
            <a:fld id="{C71452C1-B89A-F248-8940-5115726832D0}" type="slidenum">
              <a:rPr lang="en-US" smtClean="0"/>
              <a:t>6</a:t>
            </a:fld>
            <a:endParaRPr lang="en-US"/>
          </a:p>
        </p:txBody>
      </p:sp>
    </p:spTree>
    <p:extLst>
      <p:ext uri="{BB962C8B-B14F-4D97-AF65-F5344CB8AC3E}">
        <p14:creationId xmlns:p14="http://schemas.microsoft.com/office/powerpoint/2010/main" val="21697960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ClassInsight has only been in development for a few months, so as of now we are just beginning to start formal testing on the accuracy of the analysis</a:t>
            </a:r>
          </a:p>
          <a:p>
            <a:r>
              <a:rPr lang="en-US" dirty="0"/>
              <a:t>- initial results on dummy data indicates highly stable accuracy on identifying incorrect and partially correct responses, with a coefficient of variance around 5% across different batch sizes of input</a:t>
            </a:r>
          </a:p>
          <a:p>
            <a:r>
              <a:rPr lang="en-US" dirty="0"/>
              <a:t>- there is greater variability with identifying correct responses, with about 50% CV across batch sizes</a:t>
            </a:r>
          </a:p>
          <a:p>
            <a:r>
              <a:rPr lang="en-US" dirty="0"/>
              <a:t>- we have already noted that larger batch sizes, or more responses entered, results in improved accuracy</a:t>
            </a:r>
          </a:p>
          <a:p>
            <a:endParaRPr lang="en-US" dirty="0"/>
          </a:p>
          <a:p>
            <a:r>
              <a:rPr lang="en-US" dirty="0"/>
              <a:t>- thus far we have already run demos for small groups of educators and relatively large classes in the law school</a:t>
            </a:r>
          </a:p>
        </p:txBody>
      </p:sp>
      <p:sp>
        <p:nvSpPr>
          <p:cNvPr id="4" name="Slide Number Placeholder 3"/>
          <p:cNvSpPr>
            <a:spLocks noGrp="1"/>
          </p:cNvSpPr>
          <p:nvPr>
            <p:ph type="sldNum" sz="quarter" idx="5"/>
          </p:nvPr>
        </p:nvSpPr>
        <p:spPr/>
        <p:txBody>
          <a:bodyPr/>
          <a:lstStyle/>
          <a:p>
            <a:fld id="{C71452C1-B89A-F248-8940-5115726832D0}" type="slidenum">
              <a:rPr lang="en-US" smtClean="0"/>
              <a:t>7</a:t>
            </a:fld>
            <a:endParaRPr lang="en-US"/>
          </a:p>
        </p:txBody>
      </p:sp>
    </p:spTree>
    <p:extLst>
      <p:ext uri="{BB962C8B-B14F-4D97-AF65-F5344CB8AC3E}">
        <p14:creationId xmlns:p14="http://schemas.microsoft.com/office/powerpoint/2010/main" val="31836951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tie back to problem statement: </a:t>
            </a:r>
          </a:p>
          <a:p>
            <a:r>
              <a:rPr lang="en-US" dirty="0"/>
              <a:t>- offers capability for real-time assessment</a:t>
            </a:r>
          </a:p>
          <a:p>
            <a:r>
              <a:rPr lang="en-US" dirty="0"/>
              <a:t>- Individualized feedback with minimal delay leads to improved learning outcomes</a:t>
            </a:r>
          </a:p>
          <a:p>
            <a:r>
              <a:rPr lang="en-US" dirty="0"/>
              <a:t>- helps educators identify areas of weakness in comprehension and make adjustments by returning to these areas or adjusting their approach, AND unexpected outcome...</a:t>
            </a:r>
          </a:p>
          <a:p>
            <a:r>
              <a:rPr lang="en-US" dirty="0"/>
              <a:t>- more students asked questions in class following the exercises than were participating previously</a:t>
            </a:r>
          </a:p>
        </p:txBody>
      </p:sp>
      <p:sp>
        <p:nvSpPr>
          <p:cNvPr id="4" name="Slide Number Placeholder 3"/>
          <p:cNvSpPr>
            <a:spLocks noGrp="1"/>
          </p:cNvSpPr>
          <p:nvPr>
            <p:ph type="sldNum" sz="quarter" idx="5"/>
          </p:nvPr>
        </p:nvSpPr>
        <p:spPr/>
        <p:txBody>
          <a:bodyPr/>
          <a:lstStyle/>
          <a:p>
            <a:fld id="{C71452C1-B89A-F248-8940-5115726832D0}" type="slidenum">
              <a:rPr lang="en-US" smtClean="0"/>
              <a:t>8</a:t>
            </a:fld>
            <a:endParaRPr lang="en-US"/>
          </a:p>
        </p:txBody>
      </p:sp>
    </p:spTree>
    <p:extLst>
      <p:ext uri="{BB962C8B-B14F-4D97-AF65-F5344CB8AC3E}">
        <p14:creationId xmlns:p14="http://schemas.microsoft.com/office/powerpoint/2010/main" val="28799555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1452C1-B89A-F248-8940-5115726832D0}" type="slidenum">
              <a:rPr lang="en-US" smtClean="0"/>
              <a:t>9</a:t>
            </a:fld>
            <a:endParaRPr lang="en-US"/>
          </a:p>
        </p:txBody>
      </p:sp>
    </p:spTree>
    <p:extLst>
      <p:ext uri="{BB962C8B-B14F-4D97-AF65-F5344CB8AC3E}">
        <p14:creationId xmlns:p14="http://schemas.microsoft.com/office/powerpoint/2010/main" val="7961962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3/23/25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3/23/25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3/23/25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3/23/25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4.jpe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V="1">
            <a:off x="1016419" y="4920197"/>
            <a:ext cx="16230594" cy="38509"/>
          </a:xfrm>
          <a:prstGeom prst="line">
            <a:avLst/>
          </a:prstGeom>
          <a:ln w="9525" cap="flat">
            <a:solidFill>
              <a:srgbClr val="2B2C30"/>
            </a:solidFill>
            <a:prstDash val="solid"/>
            <a:headEnd type="none" w="sm" len="sm"/>
            <a:tailEnd type="none" w="sm" len="sm"/>
          </a:ln>
        </p:spPr>
        <p:txBody>
          <a:bodyPr/>
          <a:lstStyle/>
          <a:p>
            <a:endParaRPr lang="en-US"/>
          </a:p>
        </p:txBody>
      </p:sp>
      <p:sp>
        <p:nvSpPr>
          <p:cNvPr id="3" name="Freeform 3"/>
          <p:cNvSpPr/>
          <p:nvPr/>
        </p:nvSpPr>
        <p:spPr>
          <a:xfrm>
            <a:off x="16506672" y="8594532"/>
            <a:ext cx="1327536" cy="1327536"/>
          </a:xfrm>
          <a:custGeom>
            <a:avLst/>
            <a:gdLst/>
            <a:ahLst/>
            <a:cxnLst/>
            <a:rect l="l" t="t" r="r" b="b"/>
            <a:pathLst>
              <a:path w="1327536" h="1327536">
                <a:moveTo>
                  <a:pt x="0" y="0"/>
                </a:moveTo>
                <a:lnTo>
                  <a:pt x="1327536" y="0"/>
                </a:lnTo>
                <a:lnTo>
                  <a:pt x="1327536" y="1327536"/>
                </a:lnTo>
                <a:lnTo>
                  <a:pt x="0" y="1327536"/>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939840" y="5395729"/>
            <a:ext cx="16230600" cy="629551"/>
          </a:xfrm>
          <a:prstGeom prst="rect">
            <a:avLst/>
          </a:prstGeom>
        </p:spPr>
        <p:txBody>
          <a:bodyPr lIns="0" tIns="0" rIns="0" bIns="0" rtlCol="0" anchor="t">
            <a:spAutoFit/>
          </a:bodyPr>
          <a:lstStyle/>
          <a:p>
            <a:pPr algn="l">
              <a:lnSpc>
                <a:spcPts val="5200"/>
              </a:lnSpc>
              <a:spcBef>
                <a:spcPct val="0"/>
              </a:spcBef>
            </a:pPr>
            <a:r>
              <a:rPr lang="en-US" sz="3714" b="1" spc="843">
                <a:solidFill>
                  <a:srgbClr val="2B2C30"/>
                </a:solidFill>
                <a:latin typeface="Playfair Display 1 Bold"/>
                <a:ea typeface="Playfair Display 1 Bold"/>
                <a:cs typeface="Playfair Display 1 Bold"/>
                <a:sym typeface="Playfair Display 1 Bold"/>
              </a:rPr>
              <a:t>Talia Berler</a:t>
            </a:r>
          </a:p>
        </p:txBody>
      </p:sp>
      <p:sp>
        <p:nvSpPr>
          <p:cNvPr id="5" name="TextBox 5"/>
          <p:cNvSpPr txBox="1"/>
          <p:nvPr/>
        </p:nvSpPr>
        <p:spPr>
          <a:xfrm>
            <a:off x="838681" y="2232597"/>
            <a:ext cx="16408332" cy="2155270"/>
          </a:xfrm>
          <a:prstGeom prst="rect">
            <a:avLst/>
          </a:prstGeom>
        </p:spPr>
        <p:txBody>
          <a:bodyPr lIns="0" tIns="0" rIns="0" bIns="0" rtlCol="0" anchor="t">
            <a:spAutoFit/>
          </a:bodyPr>
          <a:lstStyle/>
          <a:p>
            <a:pPr algn="l">
              <a:lnSpc>
                <a:spcPts val="8749"/>
              </a:lnSpc>
            </a:pPr>
            <a:r>
              <a:rPr lang="en-US" sz="6999" b="1" spc="34" dirty="0">
                <a:solidFill>
                  <a:srgbClr val="0A3A56"/>
                </a:solidFill>
                <a:latin typeface="Playfair Display 1 Bold"/>
                <a:ea typeface="Playfair Display 1 Bold"/>
                <a:cs typeface="Playfair Display 1 Bold"/>
                <a:sym typeface="Playfair Display 1 Bold"/>
              </a:rPr>
              <a:t>ClassInsight:</a:t>
            </a:r>
            <a:r>
              <a:rPr lang="en-US" sz="6999" spc="34" dirty="0">
                <a:solidFill>
                  <a:srgbClr val="2B2C30"/>
                </a:solidFill>
                <a:latin typeface="Playfair Display 1"/>
                <a:ea typeface="Playfair Display 1"/>
                <a:cs typeface="Playfair Display 1"/>
                <a:sym typeface="Playfair Display 1"/>
              </a:rPr>
              <a:t> An agentic AIEd application for responsive teaching</a:t>
            </a:r>
          </a:p>
        </p:txBody>
      </p:sp>
      <p:sp>
        <p:nvSpPr>
          <p:cNvPr id="6" name="TextBox 6"/>
          <p:cNvSpPr txBox="1"/>
          <p:nvPr/>
        </p:nvSpPr>
        <p:spPr>
          <a:xfrm>
            <a:off x="1016407" y="8041005"/>
            <a:ext cx="7862435" cy="1303020"/>
          </a:xfrm>
          <a:prstGeom prst="rect">
            <a:avLst/>
          </a:prstGeom>
        </p:spPr>
        <p:txBody>
          <a:bodyPr lIns="0" tIns="0" rIns="0" bIns="0" rtlCol="0" anchor="t">
            <a:spAutoFit/>
          </a:bodyPr>
          <a:lstStyle/>
          <a:p>
            <a:pPr algn="l">
              <a:lnSpc>
                <a:spcPts val="3450"/>
              </a:lnSpc>
            </a:pPr>
            <a:r>
              <a:rPr lang="en-US" sz="2300" b="1">
                <a:solidFill>
                  <a:srgbClr val="2B2C30"/>
                </a:solidFill>
                <a:latin typeface="Playfair Display 1 Bold"/>
                <a:ea typeface="Playfair Display 1 Bold"/>
                <a:cs typeface="Playfair Display 1 Bold"/>
                <a:sym typeface="Playfair Display 1 Bold"/>
              </a:rPr>
              <a:t>tkb40@miami.edu</a:t>
            </a:r>
          </a:p>
          <a:p>
            <a:pPr algn="l">
              <a:lnSpc>
                <a:spcPts val="3450"/>
              </a:lnSpc>
            </a:pPr>
            <a:r>
              <a:rPr lang="en-US" sz="2300" b="1">
                <a:solidFill>
                  <a:srgbClr val="2B2C30"/>
                </a:solidFill>
                <a:latin typeface="Playfair Display 1 Bold"/>
                <a:ea typeface="Playfair Display 1 Bold"/>
                <a:cs typeface="Playfair Display 1 Bold"/>
                <a:sym typeface="Playfair Display 1 Bold"/>
              </a:rPr>
              <a:t>M.S. of Data Science</a:t>
            </a:r>
          </a:p>
          <a:p>
            <a:pPr algn="l">
              <a:lnSpc>
                <a:spcPts val="3450"/>
              </a:lnSpc>
            </a:pPr>
            <a:r>
              <a:rPr lang="en-US" sz="2300" b="1">
                <a:solidFill>
                  <a:srgbClr val="2B2C30"/>
                </a:solidFill>
                <a:latin typeface="Playfair Display 1 Bold"/>
                <a:ea typeface="Playfair Display 1 Bold"/>
                <a:cs typeface="Playfair Display 1 Bold"/>
                <a:sym typeface="Playfair Display 1 Bold"/>
              </a:rPr>
              <a:t>University of Miami 2025</a:t>
            </a:r>
          </a:p>
        </p:txBody>
      </p:sp>
      <p:sp>
        <p:nvSpPr>
          <p:cNvPr id="7" name="TextBox 7"/>
          <p:cNvSpPr txBox="1"/>
          <p:nvPr/>
        </p:nvSpPr>
        <p:spPr>
          <a:xfrm>
            <a:off x="14467387" y="9108073"/>
            <a:ext cx="2205784" cy="368765"/>
          </a:xfrm>
          <a:prstGeom prst="rect">
            <a:avLst/>
          </a:prstGeom>
        </p:spPr>
        <p:txBody>
          <a:bodyPr lIns="0" tIns="0" rIns="0" bIns="0" rtlCol="0" anchor="t">
            <a:spAutoFit/>
          </a:bodyPr>
          <a:lstStyle/>
          <a:p>
            <a:pPr algn="l">
              <a:lnSpc>
                <a:spcPts val="2717"/>
              </a:lnSpc>
            </a:pPr>
            <a:r>
              <a:rPr lang="en-US" sz="2986" spc="14">
                <a:solidFill>
                  <a:srgbClr val="2B2C30"/>
                </a:solidFill>
                <a:latin typeface="Playfair Display 1"/>
                <a:ea typeface="Playfair Display 1"/>
                <a:cs typeface="Playfair Display 1"/>
                <a:sym typeface="Playfair Display 1"/>
              </a:rPr>
              <a:t>ClassInsight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647825" y="2047875"/>
            <a:ext cx="5201573" cy="1085850"/>
          </a:xfrm>
          <a:prstGeom prst="rect">
            <a:avLst/>
          </a:prstGeom>
        </p:spPr>
        <p:txBody>
          <a:bodyPr lIns="0" tIns="0" rIns="0" bIns="0" rtlCol="0" anchor="t">
            <a:spAutoFit/>
          </a:bodyPr>
          <a:lstStyle/>
          <a:p>
            <a:pPr marL="0" lvl="0" indent="0" algn="l">
              <a:lnSpc>
                <a:spcPts val="8516"/>
              </a:lnSpc>
            </a:pPr>
            <a:r>
              <a:rPr lang="en-US" sz="7096" b="1" spc="1610">
                <a:solidFill>
                  <a:srgbClr val="2B2C30"/>
                </a:solidFill>
                <a:latin typeface="Playfair Display 1 Bold"/>
                <a:ea typeface="Playfair Display 1 Bold"/>
                <a:cs typeface="Playfair Display 1 Bold"/>
                <a:sym typeface="Playfair Display 1 Bold"/>
              </a:rPr>
              <a:t>AGENDA</a:t>
            </a:r>
          </a:p>
        </p:txBody>
      </p:sp>
      <p:grpSp>
        <p:nvGrpSpPr>
          <p:cNvPr id="3" name="Group 3"/>
          <p:cNvGrpSpPr/>
          <p:nvPr/>
        </p:nvGrpSpPr>
        <p:grpSpPr>
          <a:xfrm>
            <a:off x="8029499" y="2210896"/>
            <a:ext cx="7297073" cy="6334125"/>
            <a:chOff x="0" y="0"/>
            <a:chExt cx="9729430" cy="8445500"/>
          </a:xfrm>
        </p:grpSpPr>
        <p:sp>
          <p:nvSpPr>
            <p:cNvPr id="4" name="TextBox 4"/>
            <p:cNvSpPr txBox="1"/>
            <p:nvPr/>
          </p:nvSpPr>
          <p:spPr>
            <a:xfrm>
              <a:off x="1397000" y="197484"/>
              <a:ext cx="8332430" cy="729616"/>
            </a:xfrm>
            <a:prstGeom prst="rect">
              <a:avLst/>
            </a:prstGeom>
          </p:spPr>
          <p:txBody>
            <a:bodyPr lIns="0" tIns="0" rIns="0" bIns="0" rtlCol="0" anchor="t">
              <a:spAutoFit/>
            </a:bodyPr>
            <a:lstStyle/>
            <a:p>
              <a:pPr marL="0" lvl="0" indent="0" algn="l">
                <a:lnSpc>
                  <a:spcPts val="4619"/>
                </a:lnSpc>
              </a:pPr>
              <a:r>
                <a:rPr lang="en-US" sz="3299" b="1">
                  <a:solidFill>
                    <a:srgbClr val="2B2C30"/>
                  </a:solidFill>
                  <a:latin typeface="Playfair Display 1 Bold"/>
                  <a:ea typeface="Playfair Display 1 Bold"/>
                  <a:cs typeface="Playfair Display 1 Bold"/>
                  <a:sym typeface="Playfair Display 1 Bold"/>
                </a:rPr>
                <a:t>Problem Statement</a:t>
              </a:r>
            </a:p>
          </p:txBody>
        </p:sp>
        <p:sp>
          <p:nvSpPr>
            <p:cNvPr id="5" name="TextBox 5"/>
            <p:cNvSpPr txBox="1"/>
            <p:nvPr/>
          </p:nvSpPr>
          <p:spPr>
            <a:xfrm>
              <a:off x="0" y="-9525"/>
              <a:ext cx="890230" cy="936625"/>
            </a:xfrm>
            <a:prstGeom prst="rect">
              <a:avLst/>
            </a:prstGeom>
          </p:spPr>
          <p:txBody>
            <a:bodyPr lIns="0" tIns="0" rIns="0" bIns="0" rtlCol="0" anchor="t">
              <a:spAutoFit/>
            </a:bodyPr>
            <a:lstStyle/>
            <a:p>
              <a:pPr algn="l">
                <a:lnSpc>
                  <a:spcPts val="5519"/>
                </a:lnSpc>
              </a:pPr>
              <a:r>
                <a:rPr lang="en-US" sz="4599" spc="22">
                  <a:solidFill>
                    <a:srgbClr val="2B2C30"/>
                  </a:solidFill>
                  <a:latin typeface="Playfair Display 1"/>
                  <a:ea typeface="Playfair Display 1"/>
                  <a:cs typeface="Playfair Display 1"/>
                  <a:sym typeface="Playfair Display 1"/>
                </a:rPr>
                <a:t>01</a:t>
              </a:r>
            </a:p>
          </p:txBody>
        </p:sp>
        <p:sp>
          <p:nvSpPr>
            <p:cNvPr id="6" name="TextBox 6"/>
            <p:cNvSpPr txBox="1"/>
            <p:nvPr/>
          </p:nvSpPr>
          <p:spPr>
            <a:xfrm>
              <a:off x="1397000" y="1701164"/>
              <a:ext cx="8332430" cy="729616"/>
            </a:xfrm>
            <a:prstGeom prst="rect">
              <a:avLst/>
            </a:prstGeom>
          </p:spPr>
          <p:txBody>
            <a:bodyPr lIns="0" tIns="0" rIns="0" bIns="0" rtlCol="0" anchor="t">
              <a:spAutoFit/>
            </a:bodyPr>
            <a:lstStyle/>
            <a:p>
              <a:pPr marL="0" lvl="0" indent="0" algn="l">
                <a:lnSpc>
                  <a:spcPts val="4619"/>
                </a:lnSpc>
              </a:pPr>
              <a:r>
                <a:rPr lang="en-US" sz="3299" b="1" dirty="0">
                  <a:solidFill>
                    <a:srgbClr val="2B2C30"/>
                  </a:solidFill>
                  <a:latin typeface="Playfair Display 1 Bold"/>
                  <a:ea typeface="Playfair Display 1 Bold"/>
                  <a:cs typeface="Playfair Display 1 Bold"/>
                  <a:sym typeface="Playfair Display 1 Bold"/>
                </a:rPr>
                <a:t>Solution</a:t>
              </a:r>
            </a:p>
          </p:txBody>
        </p:sp>
        <p:sp>
          <p:nvSpPr>
            <p:cNvPr id="7" name="TextBox 7"/>
            <p:cNvSpPr txBox="1"/>
            <p:nvPr/>
          </p:nvSpPr>
          <p:spPr>
            <a:xfrm>
              <a:off x="0" y="1494155"/>
              <a:ext cx="890230" cy="936625"/>
            </a:xfrm>
            <a:prstGeom prst="rect">
              <a:avLst/>
            </a:prstGeom>
          </p:spPr>
          <p:txBody>
            <a:bodyPr lIns="0" tIns="0" rIns="0" bIns="0" rtlCol="0" anchor="t">
              <a:spAutoFit/>
            </a:bodyPr>
            <a:lstStyle/>
            <a:p>
              <a:pPr algn="l">
                <a:lnSpc>
                  <a:spcPts val="5519"/>
                </a:lnSpc>
              </a:pPr>
              <a:r>
                <a:rPr lang="en-US" sz="4599" spc="22">
                  <a:solidFill>
                    <a:srgbClr val="2B2C30"/>
                  </a:solidFill>
                  <a:latin typeface="Playfair Display 1"/>
                  <a:ea typeface="Playfair Display 1"/>
                  <a:cs typeface="Playfair Display 1"/>
                  <a:sym typeface="Playfair Display 1"/>
                </a:rPr>
                <a:t>02</a:t>
              </a:r>
            </a:p>
          </p:txBody>
        </p:sp>
        <p:sp>
          <p:nvSpPr>
            <p:cNvPr id="8" name="TextBox 8"/>
            <p:cNvSpPr txBox="1"/>
            <p:nvPr/>
          </p:nvSpPr>
          <p:spPr>
            <a:xfrm>
              <a:off x="1397000" y="3204844"/>
              <a:ext cx="8332430" cy="729616"/>
            </a:xfrm>
            <a:prstGeom prst="rect">
              <a:avLst/>
            </a:prstGeom>
          </p:spPr>
          <p:txBody>
            <a:bodyPr lIns="0" tIns="0" rIns="0" bIns="0" rtlCol="0" anchor="t">
              <a:spAutoFit/>
            </a:bodyPr>
            <a:lstStyle/>
            <a:p>
              <a:pPr marL="0" lvl="0" indent="0" algn="l">
                <a:lnSpc>
                  <a:spcPts val="4619"/>
                </a:lnSpc>
              </a:pPr>
              <a:r>
                <a:rPr lang="en-US" sz="3299" b="1">
                  <a:solidFill>
                    <a:srgbClr val="2B2C30"/>
                  </a:solidFill>
                  <a:latin typeface="Playfair Display 1 Bold"/>
                  <a:ea typeface="Playfair Display 1 Bold"/>
                  <a:cs typeface="Playfair Display 1 Bold"/>
                  <a:sym typeface="Playfair Display 1 Bold"/>
                </a:rPr>
                <a:t>Prototype</a:t>
              </a:r>
            </a:p>
          </p:txBody>
        </p:sp>
        <p:sp>
          <p:nvSpPr>
            <p:cNvPr id="9" name="TextBox 9"/>
            <p:cNvSpPr txBox="1"/>
            <p:nvPr/>
          </p:nvSpPr>
          <p:spPr>
            <a:xfrm>
              <a:off x="0" y="2997835"/>
              <a:ext cx="890230" cy="936625"/>
            </a:xfrm>
            <a:prstGeom prst="rect">
              <a:avLst/>
            </a:prstGeom>
          </p:spPr>
          <p:txBody>
            <a:bodyPr lIns="0" tIns="0" rIns="0" bIns="0" rtlCol="0" anchor="t">
              <a:spAutoFit/>
            </a:bodyPr>
            <a:lstStyle/>
            <a:p>
              <a:pPr algn="l">
                <a:lnSpc>
                  <a:spcPts val="5519"/>
                </a:lnSpc>
              </a:pPr>
              <a:r>
                <a:rPr lang="en-US" sz="4599" spc="22">
                  <a:solidFill>
                    <a:srgbClr val="2B2C30"/>
                  </a:solidFill>
                  <a:latin typeface="Playfair Display 1"/>
                  <a:ea typeface="Playfair Display 1"/>
                  <a:cs typeface="Playfair Display 1"/>
                  <a:sym typeface="Playfair Display 1"/>
                </a:rPr>
                <a:t>03</a:t>
              </a:r>
            </a:p>
          </p:txBody>
        </p:sp>
        <p:sp>
          <p:nvSpPr>
            <p:cNvPr id="10" name="TextBox 10"/>
            <p:cNvSpPr txBox="1"/>
            <p:nvPr/>
          </p:nvSpPr>
          <p:spPr>
            <a:xfrm>
              <a:off x="1397000" y="4708524"/>
              <a:ext cx="8332430" cy="729616"/>
            </a:xfrm>
            <a:prstGeom prst="rect">
              <a:avLst/>
            </a:prstGeom>
          </p:spPr>
          <p:txBody>
            <a:bodyPr lIns="0" tIns="0" rIns="0" bIns="0" rtlCol="0" anchor="t">
              <a:spAutoFit/>
            </a:bodyPr>
            <a:lstStyle/>
            <a:p>
              <a:pPr marL="0" lvl="0" indent="0" algn="l">
                <a:lnSpc>
                  <a:spcPts val="4619"/>
                </a:lnSpc>
              </a:pPr>
              <a:r>
                <a:rPr lang="en-US" sz="3299" b="1">
                  <a:solidFill>
                    <a:srgbClr val="2B2C30"/>
                  </a:solidFill>
                  <a:latin typeface="Playfair Display 1 Bold"/>
                  <a:ea typeface="Playfair Display 1 Bold"/>
                  <a:cs typeface="Playfair Display 1 Bold"/>
                  <a:sym typeface="Playfair Display 1 Bold"/>
                </a:rPr>
                <a:t>Methodology</a:t>
              </a:r>
            </a:p>
          </p:txBody>
        </p:sp>
        <p:sp>
          <p:nvSpPr>
            <p:cNvPr id="11" name="TextBox 11"/>
            <p:cNvSpPr txBox="1"/>
            <p:nvPr/>
          </p:nvSpPr>
          <p:spPr>
            <a:xfrm>
              <a:off x="0" y="4501515"/>
              <a:ext cx="890230" cy="936625"/>
            </a:xfrm>
            <a:prstGeom prst="rect">
              <a:avLst/>
            </a:prstGeom>
          </p:spPr>
          <p:txBody>
            <a:bodyPr lIns="0" tIns="0" rIns="0" bIns="0" rtlCol="0" anchor="t">
              <a:spAutoFit/>
            </a:bodyPr>
            <a:lstStyle/>
            <a:p>
              <a:pPr algn="l">
                <a:lnSpc>
                  <a:spcPts val="5519"/>
                </a:lnSpc>
              </a:pPr>
              <a:r>
                <a:rPr lang="en-US" sz="4599" spc="22">
                  <a:solidFill>
                    <a:srgbClr val="2B2C30"/>
                  </a:solidFill>
                  <a:latin typeface="Playfair Display 1"/>
                  <a:ea typeface="Playfair Display 1"/>
                  <a:cs typeface="Playfair Display 1"/>
                  <a:sym typeface="Playfair Display 1"/>
                </a:rPr>
                <a:t>04</a:t>
              </a:r>
            </a:p>
          </p:txBody>
        </p:sp>
        <p:sp>
          <p:nvSpPr>
            <p:cNvPr id="12" name="TextBox 12"/>
            <p:cNvSpPr txBox="1"/>
            <p:nvPr/>
          </p:nvSpPr>
          <p:spPr>
            <a:xfrm>
              <a:off x="1397000" y="6212204"/>
              <a:ext cx="8332430" cy="729616"/>
            </a:xfrm>
            <a:prstGeom prst="rect">
              <a:avLst/>
            </a:prstGeom>
          </p:spPr>
          <p:txBody>
            <a:bodyPr lIns="0" tIns="0" rIns="0" bIns="0" rtlCol="0" anchor="t">
              <a:spAutoFit/>
            </a:bodyPr>
            <a:lstStyle/>
            <a:p>
              <a:pPr marL="0" lvl="0" indent="0" algn="l">
                <a:lnSpc>
                  <a:spcPts val="4619"/>
                </a:lnSpc>
              </a:pPr>
              <a:r>
                <a:rPr lang="en-US" sz="3299" b="1">
                  <a:solidFill>
                    <a:srgbClr val="2B2C30"/>
                  </a:solidFill>
                  <a:latin typeface="Playfair Display 1 Bold"/>
                  <a:ea typeface="Playfair Display 1 Bold"/>
                  <a:cs typeface="Playfair Display 1 Bold"/>
                  <a:sym typeface="Playfair Display 1 Bold"/>
                </a:rPr>
                <a:t>Results</a:t>
              </a:r>
            </a:p>
          </p:txBody>
        </p:sp>
        <p:sp>
          <p:nvSpPr>
            <p:cNvPr id="13" name="TextBox 13"/>
            <p:cNvSpPr txBox="1"/>
            <p:nvPr/>
          </p:nvSpPr>
          <p:spPr>
            <a:xfrm>
              <a:off x="0" y="6005195"/>
              <a:ext cx="890230" cy="936625"/>
            </a:xfrm>
            <a:prstGeom prst="rect">
              <a:avLst/>
            </a:prstGeom>
          </p:spPr>
          <p:txBody>
            <a:bodyPr lIns="0" tIns="0" rIns="0" bIns="0" rtlCol="0" anchor="t">
              <a:spAutoFit/>
            </a:bodyPr>
            <a:lstStyle/>
            <a:p>
              <a:pPr algn="l">
                <a:lnSpc>
                  <a:spcPts val="5519"/>
                </a:lnSpc>
              </a:pPr>
              <a:r>
                <a:rPr lang="en-US" sz="4599" spc="22">
                  <a:solidFill>
                    <a:srgbClr val="2B2C30"/>
                  </a:solidFill>
                  <a:latin typeface="Playfair Display 1"/>
                  <a:ea typeface="Playfair Display 1"/>
                  <a:cs typeface="Playfair Display 1"/>
                  <a:sym typeface="Playfair Display 1"/>
                </a:rPr>
                <a:t>05</a:t>
              </a:r>
            </a:p>
          </p:txBody>
        </p:sp>
        <p:sp>
          <p:nvSpPr>
            <p:cNvPr id="14" name="TextBox 14"/>
            <p:cNvSpPr txBox="1"/>
            <p:nvPr/>
          </p:nvSpPr>
          <p:spPr>
            <a:xfrm>
              <a:off x="1397000" y="7715884"/>
              <a:ext cx="8332430" cy="729616"/>
            </a:xfrm>
            <a:prstGeom prst="rect">
              <a:avLst/>
            </a:prstGeom>
          </p:spPr>
          <p:txBody>
            <a:bodyPr lIns="0" tIns="0" rIns="0" bIns="0" rtlCol="0" anchor="t">
              <a:spAutoFit/>
            </a:bodyPr>
            <a:lstStyle/>
            <a:p>
              <a:pPr marL="0" lvl="0" indent="0" algn="l">
                <a:lnSpc>
                  <a:spcPts val="4619"/>
                </a:lnSpc>
              </a:pPr>
              <a:r>
                <a:rPr lang="en-US" sz="3299" b="1">
                  <a:solidFill>
                    <a:srgbClr val="2B2C30"/>
                  </a:solidFill>
                  <a:latin typeface="Playfair Display 1 Bold"/>
                  <a:ea typeface="Playfair Display 1 Bold"/>
                  <a:cs typeface="Playfair Display 1 Bold"/>
                  <a:sym typeface="Playfair Display 1 Bold"/>
                </a:rPr>
                <a:t>Conclusion &amp; Significance</a:t>
              </a:r>
            </a:p>
          </p:txBody>
        </p:sp>
        <p:sp>
          <p:nvSpPr>
            <p:cNvPr id="15" name="TextBox 15"/>
            <p:cNvSpPr txBox="1"/>
            <p:nvPr/>
          </p:nvSpPr>
          <p:spPr>
            <a:xfrm>
              <a:off x="0" y="7508875"/>
              <a:ext cx="890230" cy="936625"/>
            </a:xfrm>
            <a:prstGeom prst="rect">
              <a:avLst/>
            </a:prstGeom>
          </p:spPr>
          <p:txBody>
            <a:bodyPr lIns="0" tIns="0" rIns="0" bIns="0" rtlCol="0" anchor="t">
              <a:spAutoFit/>
            </a:bodyPr>
            <a:lstStyle/>
            <a:p>
              <a:pPr algn="l">
                <a:lnSpc>
                  <a:spcPts val="5519"/>
                </a:lnSpc>
              </a:pPr>
              <a:r>
                <a:rPr lang="en-US" sz="4599" spc="22">
                  <a:solidFill>
                    <a:srgbClr val="2B2C30"/>
                  </a:solidFill>
                  <a:latin typeface="Playfair Display 1"/>
                  <a:ea typeface="Playfair Display 1"/>
                  <a:cs typeface="Playfair Display 1"/>
                  <a:sym typeface="Playfair Display 1"/>
                </a:rPr>
                <a:t>06</a:t>
              </a:r>
            </a:p>
          </p:txBody>
        </p:sp>
      </p:grpSp>
      <p:sp>
        <p:nvSpPr>
          <p:cNvPr id="16" name="Freeform 16"/>
          <p:cNvSpPr/>
          <p:nvPr/>
        </p:nvSpPr>
        <p:spPr>
          <a:xfrm>
            <a:off x="16506672" y="8594532"/>
            <a:ext cx="1327536" cy="1327536"/>
          </a:xfrm>
          <a:custGeom>
            <a:avLst/>
            <a:gdLst/>
            <a:ahLst/>
            <a:cxnLst/>
            <a:rect l="l" t="t" r="r" b="b"/>
            <a:pathLst>
              <a:path w="1327536" h="1327536">
                <a:moveTo>
                  <a:pt x="0" y="0"/>
                </a:moveTo>
                <a:lnTo>
                  <a:pt x="1327536" y="0"/>
                </a:lnTo>
                <a:lnTo>
                  <a:pt x="1327536" y="1327536"/>
                </a:lnTo>
                <a:lnTo>
                  <a:pt x="0" y="1327536"/>
                </a:lnTo>
                <a:lnTo>
                  <a:pt x="0" y="0"/>
                </a:lnTo>
                <a:close/>
              </a:path>
            </a:pathLst>
          </a:custGeom>
          <a:blipFill>
            <a:blip r:embed="rId3"/>
            <a:stretch>
              <a:fillRect/>
            </a:stretch>
          </a:blipFill>
        </p:spPr>
        <p:txBody>
          <a:bodyPr/>
          <a:lstStyle/>
          <a:p>
            <a:endParaRPr lang="en-US"/>
          </a:p>
        </p:txBody>
      </p:sp>
      <p:sp>
        <p:nvSpPr>
          <p:cNvPr id="17" name="TextBox 17"/>
          <p:cNvSpPr txBox="1"/>
          <p:nvPr/>
        </p:nvSpPr>
        <p:spPr>
          <a:xfrm>
            <a:off x="14467387" y="9108073"/>
            <a:ext cx="2205784" cy="368765"/>
          </a:xfrm>
          <a:prstGeom prst="rect">
            <a:avLst/>
          </a:prstGeom>
        </p:spPr>
        <p:txBody>
          <a:bodyPr lIns="0" tIns="0" rIns="0" bIns="0" rtlCol="0" anchor="t">
            <a:spAutoFit/>
          </a:bodyPr>
          <a:lstStyle/>
          <a:p>
            <a:pPr algn="l">
              <a:lnSpc>
                <a:spcPts val="2717"/>
              </a:lnSpc>
            </a:pPr>
            <a:r>
              <a:rPr lang="en-US" sz="2986" spc="14">
                <a:solidFill>
                  <a:srgbClr val="2B2C30"/>
                </a:solidFill>
                <a:latin typeface="Playfair Display 1"/>
                <a:ea typeface="Playfair Display 1"/>
                <a:cs typeface="Playfair Display 1"/>
                <a:sym typeface="Playfair Display 1"/>
              </a:rPr>
              <a:t>ClassInsight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16407" y="2086295"/>
            <a:ext cx="16242893" cy="3474541"/>
          </a:xfrm>
          <a:prstGeom prst="rect">
            <a:avLst/>
          </a:prstGeom>
        </p:spPr>
        <p:txBody>
          <a:bodyPr lIns="0" tIns="0" rIns="0" bIns="0" rtlCol="0" anchor="t">
            <a:spAutoFit/>
          </a:bodyPr>
          <a:lstStyle/>
          <a:p>
            <a:pPr algn="l">
              <a:lnSpc>
                <a:spcPct val="150000"/>
              </a:lnSpc>
            </a:pPr>
            <a:r>
              <a:rPr lang="en-US" sz="4200" b="1" spc="21" dirty="0">
                <a:solidFill>
                  <a:srgbClr val="0A3A56"/>
                </a:solidFill>
                <a:latin typeface="Playfair Display 1 Bold"/>
                <a:ea typeface="Playfair Display 1 Bold"/>
                <a:cs typeface="Playfair Display 1 Bold"/>
                <a:sym typeface="Playfair Display 1 Bold"/>
              </a:rPr>
              <a:t>Responsive teaching</a:t>
            </a:r>
          </a:p>
          <a:p>
            <a:pPr marL="1028700" lvl="1" indent="-571500">
              <a:lnSpc>
                <a:spcPct val="150000"/>
              </a:lnSpc>
              <a:buFont typeface="Arial" panose="020B0604020202020204" pitchFamily="34" charset="0"/>
              <a:buChar char="•"/>
            </a:pPr>
            <a:r>
              <a:rPr lang="en-US" sz="4200" spc="21" dirty="0">
                <a:solidFill>
                  <a:srgbClr val="2B2C30"/>
                </a:solidFill>
                <a:latin typeface="Playfair Display 1"/>
                <a:ea typeface="Playfair Display 1"/>
                <a:cs typeface="Playfair Display 1"/>
                <a:sym typeface="Playfair Display 1"/>
              </a:rPr>
              <a:t>Individualized &gt; General</a:t>
            </a:r>
          </a:p>
          <a:p>
            <a:pPr marL="1028700" lvl="1" indent="-571500">
              <a:lnSpc>
                <a:spcPts val="6300"/>
              </a:lnSpc>
              <a:buFont typeface="Arial" panose="020B0604020202020204" pitchFamily="34" charset="0"/>
              <a:buChar char="•"/>
            </a:pPr>
            <a:r>
              <a:rPr lang="en-US" sz="4200" spc="21" dirty="0">
                <a:solidFill>
                  <a:srgbClr val="2B2C30"/>
                </a:solidFill>
                <a:latin typeface="Playfair Display 1"/>
                <a:ea typeface="Playfair Display 1"/>
                <a:cs typeface="Playfair Display 1"/>
                <a:sym typeface="Playfair Display 1"/>
              </a:rPr>
              <a:t>Real-time &gt; Delayed</a:t>
            </a:r>
          </a:p>
          <a:p>
            <a:pPr marL="1028700" lvl="1" indent="-571500">
              <a:lnSpc>
                <a:spcPts val="6300"/>
              </a:lnSpc>
              <a:buFont typeface="Arial" panose="020B0604020202020204" pitchFamily="34" charset="0"/>
              <a:buChar char="•"/>
            </a:pPr>
            <a:r>
              <a:rPr lang="en-US" sz="4200" spc="21" dirty="0">
                <a:solidFill>
                  <a:srgbClr val="2B2C30"/>
                </a:solidFill>
                <a:latin typeface="Playfair Display 1"/>
                <a:ea typeface="Playfair Display 1"/>
                <a:cs typeface="Playfair Display 1"/>
                <a:sym typeface="Playfair Display 1"/>
              </a:rPr>
              <a:t>Humanities</a:t>
            </a:r>
          </a:p>
        </p:txBody>
      </p:sp>
      <p:sp>
        <p:nvSpPr>
          <p:cNvPr id="3" name="TextBox 3"/>
          <p:cNvSpPr txBox="1"/>
          <p:nvPr/>
        </p:nvSpPr>
        <p:spPr>
          <a:xfrm>
            <a:off x="1006871" y="5938958"/>
            <a:ext cx="16141740" cy="3288914"/>
          </a:xfrm>
          <a:prstGeom prst="rect">
            <a:avLst/>
          </a:prstGeom>
        </p:spPr>
        <p:txBody>
          <a:bodyPr lIns="0" tIns="0" rIns="0" bIns="0" rtlCol="0" anchor="t">
            <a:spAutoFit/>
          </a:bodyPr>
          <a:lstStyle/>
          <a:p>
            <a:pPr algn="l">
              <a:lnSpc>
                <a:spcPct val="150000"/>
              </a:lnSpc>
            </a:pPr>
            <a:r>
              <a:rPr lang="en-US" sz="4070" spc="20" dirty="0">
                <a:solidFill>
                  <a:srgbClr val="2B2C30"/>
                </a:solidFill>
                <a:latin typeface="Playfair Display 1"/>
                <a:ea typeface="Playfair Display 1"/>
                <a:cs typeface="Playfair Display 1"/>
                <a:sym typeface="Playfair Display 1"/>
              </a:rPr>
              <a:t>Traditional Approaches</a:t>
            </a:r>
          </a:p>
          <a:p>
            <a:pPr marL="878739" lvl="1" indent="-439370">
              <a:lnSpc>
                <a:spcPct val="150000"/>
              </a:lnSpc>
              <a:buFont typeface="Arial"/>
              <a:buChar char="•"/>
            </a:pPr>
            <a:r>
              <a:rPr lang="en-US" sz="4070" spc="20" dirty="0">
                <a:solidFill>
                  <a:srgbClr val="2B2C30"/>
                </a:solidFill>
                <a:latin typeface="Playfair Display 1"/>
                <a:ea typeface="Playfair Display 1"/>
                <a:cs typeface="Playfair Display 1"/>
                <a:sym typeface="Playfair Display 1"/>
              </a:rPr>
              <a:t>Questions</a:t>
            </a:r>
          </a:p>
          <a:p>
            <a:pPr marL="878739" lvl="1" indent="-439370">
              <a:lnSpc>
                <a:spcPts val="6105"/>
              </a:lnSpc>
              <a:buFont typeface="Arial"/>
              <a:buChar char="•"/>
            </a:pPr>
            <a:r>
              <a:rPr lang="en-US" sz="4070" spc="20" dirty="0">
                <a:solidFill>
                  <a:srgbClr val="2B2C30"/>
                </a:solidFill>
                <a:latin typeface="Playfair Display 1"/>
                <a:ea typeface="Playfair Display 1"/>
                <a:cs typeface="Playfair Display 1"/>
                <a:sym typeface="Playfair Display 1"/>
              </a:rPr>
              <a:t>Discussion</a:t>
            </a:r>
          </a:p>
          <a:p>
            <a:pPr marL="878739" lvl="1" indent="-439370">
              <a:lnSpc>
                <a:spcPts val="5291"/>
              </a:lnSpc>
              <a:buFont typeface="Arial"/>
              <a:buChar char="•"/>
            </a:pPr>
            <a:r>
              <a:rPr lang="en-US" sz="4070" spc="20" dirty="0">
                <a:solidFill>
                  <a:srgbClr val="2B2C30"/>
                </a:solidFill>
                <a:latin typeface="Playfair Display 1"/>
                <a:ea typeface="Playfair Display 1"/>
                <a:cs typeface="Playfair Display 1"/>
                <a:sym typeface="Playfair Display 1"/>
              </a:rPr>
              <a:t>Quiz</a:t>
            </a:r>
          </a:p>
        </p:txBody>
      </p:sp>
      <p:sp>
        <p:nvSpPr>
          <p:cNvPr id="4" name="TextBox 4"/>
          <p:cNvSpPr txBox="1"/>
          <p:nvPr/>
        </p:nvSpPr>
        <p:spPr>
          <a:xfrm>
            <a:off x="1006871" y="962025"/>
            <a:ext cx="16230600" cy="632049"/>
          </a:xfrm>
          <a:prstGeom prst="rect">
            <a:avLst/>
          </a:prstGeom>
        </p:spPr>
        <p:txBody>
          <a:bodyPr lIns="0" tIns="0" rIns="0" bIns="0" rtlCol="0" anchor="t">
            <a:spAutoFit/>
          </a:bodyPr>
          <a:lstStyle/>
          <a:p>
            <a:pPr algn="l">
              <a:lnSpc>
                <a:spcPts val="5200"/>
              </a:lnSpc>
              <a:spcBef>
                <a:spcPct val="0"/>
              </a:spcBef>
            </a:pPr>
            <a:r>
              <a:rPr lang="en-US" sz="3714" b="1" spc="843">
                <a:solidFill>
                  <a:srgbClr val="2B2C30"/>
                </a:solidFill>
                <a:latin typeface="Playfair Display 2 Bold"/>
                <a:ea typeface="Playfair Display 2 Bold"/>
                <a:cs typeface="Playfair Display 2 Bold"/>
                <a:sym typeface="Playfair Display 2 Bold"/>
              </a:rPr>
              <a:t>PROBLEM STATEMENT</a:t>
            </a:r>
          </a:p>
        </p:txBody>
      </p:sp>
      <p:sp>
        <p:nvSpPr>
          <p:cNvPr id="5" name="AutoShape 5"/>
          <p:cNvSpPr/>
          <p:nvPr/>
        </p:nvSpPr>
        <p:spPr>
          <a:xfrm flipV="1">
            <a:off x="1028695" y="1760761"/>
            <a:ext cx="16230594" cy="38509"/>
          </a:xfrm>
          <a:prstGeom prst="line">
            <a:avLst/>
          </a:prstGeom>
          <a:ln w="9525" cap="flat">
            <a:solidFill>
              <a:srgbClr val="2B2C30"/>
            </a:solidFill>
            <a:prstDash val="solid"/>
            <a:headEnd type="none" w="sm" len="sm"/>
            <a:tailEnd type="none" w="sm" len="sm"/>
          </a:ln>
        </p:spPr>
        <p:txBody>
          <a:bodyPr/>
          <a:lstStyle/>
          <a:p>
            <a:endParaRPr lang="en-US"/>
          </a:p>
        </p:txBody>
      </p:sp>
      <p:sp>
        <p:nvSpPr>
          <p:cNvPr id="6" name="Freeform 6"/>
          <p:cNvSpPr/>
          <p:nvPr/>
        </p:nvSpPr>
        <p:spPr>
          <a:xfrm>
            <a:off x="16506672" y="8594532"/>
            <a:ext cx="1327536" cy="1327536"/>
          </a:xfrm>
          <a:custGeom>
            <a:avLst/>
            <a:gdLst/>
            <a:ahLst/>
            <a:cxnLst/>
            <a:rect l="l" t="t" r="r" b="b"/>
            <a:pathLst>
              <a:path w="1327536" h="1327536">
                <a:moveTo>
                  <a:pt x="0" y="0"/>
                </a:moveTo>
                <a:lnTo>
                  <a:pt x="1327536" y="0"/>
                </a:lnTo>
                <a:lnTo>
                  <a:pt x="1327536" y="1327536"/>
                </a:lnTo>
                <a:lnTo>
                  <a:pt x="0" y="1327536"/>
                </a:lnTo>
                <a:lnTo>
                  <a:pt x="0" y="0"/>
                </a:lnTo>
                <a:close/>
              </a:path>
            </a:pathLst>
          </a:custGeom>
          <a:blipFill>
            <a:blip r:embed="rId3"/>
            <a:stretch>
              <a:fillRect/>
            </a:stretch>
          </a:blipFill>
        </p:spPr>
        <p:txBody>
          <a:bodyPr/>
          <a:lstStyle/>
          <a:p>
            <a:endParaRPr lang="en-US"/>
          </a:p>
        </p:txBody>
      </p:sp>
      <p:sp>
        <p:nvSpPr>
          <p:cNvPr id="7" name="TextBox 7"/>
          <p:cNvSpPr txBox="1"/>
          <p:nvPr/>
        </p:nvSpPr>
        <p:spPr>
          <a:xfrm>
            <a:off x="14467387" y="9108073"/>
            <a:ext cx="2205784" cy="368765"/>
          </a:xfrm>
          <a:prstGeom prst="rect">
            <a:avLst/>
          </a:prstGeom>
        </p:spPr>
        <p:txBody>
          <a:bodyPr lIns="0" tIns="0" rIns="0" bIns="0" rtlCol="0" anchor="t">
            <a:spAutoFit/>
          </a:bodyPr>
          <a:lstStyle/>
          <a:p>
            <a:pPr algn="l">
              <a:lnSpc>
                <a:spcPts val="2717"/>
              </a:lnSpc>
            </a:pPr>
            <a:r>
              <a:rPr lang="en-US" sz="2986" spc="14">
                <a:solidFill>
                  <a:srgbClr val="2B2C30"/>
                </a:solidFill>
                <a:latin typeface="Playfair Display 1"/>
                <a:ea typeface="Playfair Display 1"/>
                <a:cs typeface="Playfair Display 1"/>
                <a:sym typeface="Playfair Display 1"/>
              </a:rPr>
              <a:t>ClassInsight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V="1">
            <a:off x="992905" y="1760761"/>
            <a:ext cx="16230594" cy="38509"/>
          </a:xfrm>
          <a:prstGeom prst="line">
            <a:avLst/>
          </a:prstGeom>
          <a:ln w="9525" cap="flat">
            <a:solidFill>
              <a:srgbClr val="2B2C30"/>
            </a:solidFill>
            <a:prstDash val="solid"/>
            <a:headEnd type="none" w="sm" len="sm"/>
            <a:tailEnd type="none" w="sm" len="sm"/>
          </a:ln>
        </p:spPr>
        <p:txBody>
          <a:bodyPr/>
          <a:lstStyle/>
          <a:p>
            <a:endParaRPr lang="en-US"/>
          </a:p>
        </p:txBody>
      </p:sp>
      <p:sp>
        <p:nvSpPr>
          <p:cNvPr id="3" name="Freeform 3"/>
          <p:cNvSpPr/>
          <p:nvPr/>
        </p:nvSpPr>
        <p:spPr>
          <a:xfrm>
            <a:off x="16506672" y="8594532"/>
            <a:ext cx="1327536" cy="1327536"/>
          </a:xfrm>
          <a:custGeom>
            <a:avLst/>
            <a:gdLst/>
            <a:ahLst/>
            <a:cxnLst/>
            <a:rect l="l" t="t" r="r" b="b"/>
            <a:pathLst>
              <a:path w="1327536" h="1327536">
                <a:moveTo>
                  <a:pt x="0" y="0"/>
                </a:moveTo>
                <a:lnTo>
                  <a:pt x="1327536" y="0"/>
                </a:lnTo>
                <a:lnTo>
                  <a:pt x="1327536" y="1327536"/>
                </a:lnTo>
                <a:lnTo>
                  <a:pt x="0" y="1327536"/>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2324466" y="3411199"/>
            <a:ext cx="7467234" cy="5526404"/>
          </a:xfrm>
          <a:prstGeom prst="rect">
            <a:avLst/>
          </a:prstGeom>
        </p:spPr>
        <p:txBody>
          <a:bodyPr lIns="0" tIns="0" rIns="0" bIns="0" rtlCol="0" anchor="t">
            <a:spAutoFit/>
          </a:bodyPr>
          <a:lstStyle/>
          <a:p>
            <a:pPr algn="l">
              <a:lnSpc>
                <a:spcPts val="7350"/>
              </a:lnSpc>
            </a:pPr>
            <a:r>
              <a:rPr lang="en-US" sz="4200" b="1" spc="21" dirty="0">
                <a:solidFill>
                  <a:srgbClr val="2B2C30"/>
                </a:solidFill>
                <a:latin typeface="Playfair Display 1 Bold"/>
                <a:ea typeface="Playfair Display 1 Bold"/>
                <a:cs typeface="Playfair Display 1 Bold"/>
                <a:sym typeface="Playfair Display 1 Bold"/>
              </a:rPr>
              <a:t>Inputs</a:t>
            </a:r>
          </a:p>
          <a:p>
            <a:pPr algn="l">
              <a:lnSpc>
                <a:spcPts val="7350"/>
              </a:lnSpc>
            </a:pPr>
            <a:r>
              <a:rPr lang="en-US" sz="4200" spc="21" dirty="0">
                <a:solidFill>
                  <a:srgbClr val="2B2C30"/>
                </a:solidFill>
                <a:latin typeface="Playfair Display 1"/>
                <a:ea typeface="Playfair Display 1"/>
                <a:cs typeface="Playfair Display 1"/>
                <a:sym typeface="Playfair Display 1"/>
              </a:rPr>
              <a:t>Educator provides:</a:t>
            </a:r>
          </a:p>
          <a:p>
            <a:pPr algn="l">
              <a:lnSpc>
                <a:spcPts val="7350"/>
              </a:lnSpc>
            </a:pPr>
            <a:r>
              <a:rPr lang="en-US" sz="3600" spc="21" dirty="0">
                <a:solidFill>
                  <a:srgbClr val="2B2C30"/>
                </a:solidFill>
                <a:latin typeface="Playfair Display 1"/>
                <a:ea typeface="Playfair Display 1"/>
                <a:cs typeface="Playfair Display 1"/>
                <a:sym typeface="Playfair Display 1"/>
              </a:rPr>
              <a:t>      1. Email List</a:t>
            </a:r>
          </a:p>
          <a:p>
            <a:pPr algn="l">
              <a:lnSpc>
                <a:spcPts val="7350"/>
              </a:lnSpc>
            </a:pPr>
            <a:r>
              <a:rPr lang="en-US" sz="3600" spc="21" dirty="0">
                <a:solidFill>
                  <a:srgbClr val="2B2C30"/>
                </a:solidFill>
                <a:latin typeface="Playfair Display 1"/>
                <a:ea typeface="Playfair Display 1"/>
                <a:cs typeface="Playfair Display 1"/>
                <a:sym typeface="Playfair Display 1"/>
              </a:rPr>
              <a:t>      2. Question</a:t>
            </a:r>
          </a:p>
          <a:p>
            <a:pPr algn="l">
              <a:lnSpc>
                <a:spcPts val="7350"/>
              </a:lnSpc>
            </a:pPr>
            <a:r>
              <a:rPr lang="en-US" sz="3600" spc="21" dirty="0">
                <a:solidFill>
                  <a:srgbClr val="2B2C30"/>
                </a:solidFill>
                <a:latin typeface="Playfair Display 1"/>
                <a:ea typeface="Playfair Display 1"/>
                <a:cs typeface="Playfair Display 1"/>
                <a:sym typeface="Playfair Display 1"/>
              </a:rPr>
              <a:t>      3. Model Response</a:t>
            </a:r>
          </a:p>
          <a:p>
            <a:pPr algn="l">
              <a:lnSpc>
                <a:spcPts val="7350"/>
              </a:lnSpc>
            </a:pPr>
            <a:r>
              <a:rPr lang="en-US" sz="3600" spc="21" dirty="0">
                <a:solidFill>
                  <a:srgbClr val="2B2C30"/>
                </a:solidFill>
                <a:latin typeface="Playfair Display 1"/>
                <a:ea typeface="Playfair Display 1"/>
                <a:cs typeface="Playfair Display 1"/>
                <a:sym typeface="Playfair Display 1"/>
              </a:rPr>
              <a:t>      4. Categories</a:t>
            </a:r>
          </a:p>
        </p:txBody>
      </p:sp>
      <p:sp>
        <p:nvSpPr>
          <p:cNvPr id="5" name="Freeform 5"/>
          <p:cNvSpPr/>
          <p:nvPr/>
        </p:nvSpPr>
        <p:spPr>
          <a:xfrm>
            <a:off x="1253680" y="3470626"/>
            <a:ext cx="880286" cy="897238"/>
          </a:xfrm>
          <a:custGeom>
            <a:avLst/>
            <a:gdLst/>
            <a:ahLst/>
            <a:cxnLst/>
            <a:rect l="l" t="t" r="r" b="b"/>
            <a:pathLst>
              <a:path w="880286" h="897238">
                <a:moveTo>
                  <a:pt x="0" y="0"/>
                </a:moveTo>
                <a:lnTo>
                  <a:pt x="880286" y="0"/>
                </a:lnTo>
                <a:lnTo>
                  <a:pt x="880286" y="897238"/>
                </a:lnTo>
                <a:lnTo>
                  <a:pt x="0" y="89723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Freeform 6"/>
          <p:cNvSpPr/>
          <p:nvPr/>
        </p:nvSpPr>
        <p:spPr>
          <a:xfrm rot="-10800000">
            <a:off x="8048611" y="3485118"/>
            <a:ext cx="880286" cy="897238"/>
          </a:xfrm>
          <a:custGeom>
            <a:avLst/>
            <a:gdLst/>
            <a:ahLst/>
            <a:cxnLst/>
            <a:rect l="l" t="t" r="r" b="b"/>
            <a:pathLst>
              <a:path w="880286" h="897238">
                <a:moveTo>
                  <a:pt x="0" y="0"/>
                </a:moveTo>
                <a:lnTo>
                  <a:pt x="880286" y="0"/>
                </a:lnTo>
                <a:lnTo>
                  <a:pt x="880286" y="897238"/>
                </a:lnTo>
                <a:lnTo>
                  <a:pt x="0" y="89723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TextBox 7"/>
          <p:cNvSpPr txBox="1"/>
          <p:nvPr/>
        </p:nvSpPr>
        <p:spPr>
          <a:xfrm>
            <a:off x="994578" y="2119779"/>
            <a:ext cx="16242893" cy="970910"/>
          </a:xfrm>
          <a:prstGeom prst="rect">
            <a:avLst/>
          </a:prstGeom>
        </p:spPr>
        <p:txBody>
          <a:bodyPr lIns="0" tIns="0" rIns="0" bIns="0" rtlCol="0" anchor="t">
            <a:spAutoFit/>
          </a:bodyPr>
          <a:lstStyle/>
          <a:p>
            <a:pPr algn="l">
              <a:lnSpc>
                <a:spcPts val="7865"/>
              </a:lnSpc>
            </a:pPr>
            <a:r>
              <a:rPr lang="en-US" sz="6050" b="1" spc="30" dirty="0">
                <a:solidFill>
                  <a:srgbClr val="0A3A56"/>
                </a:solidFill>
                <a:latin typeface="Playfair Display 1 Bold"/>
                <a:ea typeface="Playfair Display 1 Bold"/>
                <a:cs typeface="Playfair Display 1 Bold"/>
                <a:sym typeface="Playfair Display 1 Bold"/>
              </a:rPr>
              <a:t>ClassInsight</a:t>
            </a:r>
          </a:p>
        </p:txBody>
      </p:sp>
      <p:sp>
        <p:nvSpPr>
          <p:cNvPr id="8" name="TextBox 8"/>
          <p:cNvSpPr txBox="1"/>
          <p:nvPr/>
        </p:nvSpPr>
        <p:spPr>
          <a:xfrm>
            <a:off x="1006871" y="962025"/>
            <a:ext cx="16230600" cy="632049"/>
          </a:xfrm>
          <a:prstGeom prst="rect">
            <a:avLst/>
          </a:prstGeom>
        </p:spPr>
        <p:txBody>
          <a:bodyPr lIns="0" tIns="0" rIns="0" bIns="0" rtlCol="0" anchor="t">
            <a:spAutoFit/>
          </a:bodyPr>
          <a:lstStyle/>
          <a:p>
            <a:pPr algn="l">
              <a:lnSpc>
                <a:spcPts val="5200"/>
              </a:lnSpc>
              <a:spcBef>
                <a:spcPct val="0"/>
              </a:spcBef>
            </a:pPr>
            <a:r>
              <a:rPr lang="en-US" sz="3714" b="1" spc="843">
                <a:solidFill>
                  <a:srgbClr val="2B2C30"/>
                </a:solidFill>
                <a:latin typeface="Playfair Display 2 Bold"/>
                <a:ea typeface="Playfair Display 2 Bold"/>
                <a:cs typeface="Playfair Display 2 Bold"/>
                <a:sym typeface="Playfair Display 2 Bold"/>
              </a:rPr>
              <a:t>SOLUTION</a:t>
            </a:r>
          </a:p>
        </p:txBody>
      </p:sp>
      <p:sp>
        <p:nvSpPr>
          <p:cNvPr id="9" name="TextBox 9"/>
          <p:cNvSpPr txBox="1"/>
          <p:nvPr/>
        </p:nvSpPr>
        <p:spPr>
          <a:xfrm>
            <a:off x="14467387" y="9108073"/>
            <a:ext cx="2205784" cy="368765"/>
          </a:xfrm>
          <a:prstGeom prst="rect">
            <a:avLst/>
          </a:prstGeom>
        </p:spPr>
        <p:txBody>
          <a:bodyPr lIns="0" tIns="0" rIns="0" bIns="0" rtlCol="0" anchor="t">
            <a:spAutoFit/>
          </a:bodyPr>
          <a:lstStyle/>
          <a:p>
            <a:pPr algn="l">
              <a:lnSpc>
                <a:spcPts val="2717"/>
              </a:lnSpc>
            </a:pPr>
            <a:r>
              <a:rPr lang="en-US" sz="2986" spc="14">
                <a:solidFill>
                  <a:srgbClr val="2B2C30"/>
                </a:solidFill>
                <a:latin typeface="Playfair Display 1"/>
                <a:ea typeface="Playfair Display 1"/>
                <a:cs typeface="Playfair Display 1"/>
                <a:sym typeface="Playfair Display 1"/>
              </a:rPr>
              <a:t>ClassInsight</a:t>
            </a:r>
          </a:p>
        </p:txBody>
      </p:sp>
      <p:sp>
        <p:nvSpPr>
          <p:cNvPr id="10" name="TextBox 10"/>
          <p:cNvSpPr txBox="1"/>
          <p:nvPr/>
        </p:nvSpPr>
        <p:spPr>
          <a:xfrm>
            <a:off x="9155723" y="3411198"/>
            <a:ext cx="8678485" cy="3651384"/>
          </a:xfrm>
          <a:prstGeom prst="rect">
            <a:avLst/>
          </a:prstGeom>
        </p:spPr>
        <p:txBody>
          <a:bodyPr wrap="square" lIns="0" tIns="0" rIns="0" bIns="0" rtlCol="0" anchor="t">
            <a:spAutoFit/>
          </a:bodyPr>
          <a:lstStyle/>
          <a:p>
            <a:pPr algn="l">
              <a:lnSpc>
                <a:spcPts val="7350"/>
              </a:lnSpc>
            </a:pPr>
            <a:r>
              <a:rPr lang="en-US" sz="4200" b="1" spc="21" dirty="0">
                <a:solidFill>
                  <a:srgbClr val="2B2C30"/>
                </a:solidFill>
                <a:latin typeface="Playfair Display 1 Bold"/>
                <a:ea typeface="Playfair Display 1 Bold"/>
                <a:cs typeface="Playfair Display 1 Bold"/>
                <a:sym typeface="Playfair Display 1 Bold"/>
              </a:rPr>
              <a:t>Outputs</a:t>
            </a:r>
          </a:p>
          <a:p>
            <a:pPr algn="l">
              <a:lnSpc>
                <a:spcPts val="7350"/>
              </a:lnSpc>
            </a:pPr>
            <a:r>
              <a:rPr lang="en-US" sz="4200" spc="21" dirty="0">
                <a:solidFill>
                  <a:srgbClr val="2B2C30"/>
                </a:solidFill>
                <a:latin typeface="Playfair Display 1"/>
                <a:ea typeface="Playfair Display 1"/>
                <a:cs typeface="Playfair Display 1"/>
                <a:sym typeface="Playfair Display 1"/>
              </a:rPr>
              <a:t>2 Main Products:</a:t>
            </a:r>
          </a:p>
          <a:p>
            <a:pPr algn="l">
              <a:lnSpc>
                <a:spcPts val="7350"/>
              </a:lnSpc>
            </a:pPr>
            <a:r>
              <a:rPr lang="en-US" sz="3200" spc="21" dirty="0">
                <a:solidFill>
                  <a:srgbClr val="2B2C30"/>
                </a:solidFill>
                <a:latin typeface="Playfair Display 1"/>
                <a:ea typeface="Playfair Display 1"/>
                <a:cs typeface="Playfair Display 1"/>
                <a:sym typeface="Playfair Display 1"/>
              </a:rPr>
              <a:t>1. Quantitative: aggregated, anonymous visuals</a:t>
            </a:r>
          </a:p>
          <a:p>
            <a:pPr algn="l">
              <a:lnSpc>
                <a:spcPts val="7350"/>
              </a:lnSpc>
            </a:pPr>
            <a:r>
              <a:rPr lang="en-US" sz="3200" spc="21" dirty="0">
                <a:solidFill>
                  <a:srgbClr val="2B2C30"/>
                </a:solidFill>
                <a:latin typeface="Playfair Display 1"/>
                <a:ea typeface="Playfair Display 1"/>
                <a:cs typeface="Playfair Display 1"/>
                <a:sym typeface="Playfair Display 1"/>
              </a:rPr>
              <a:t>2. Qualitative: individual feedback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rcRect l="1477" t="11589" r="1477"/>
          <a:stretch>
            <a:fillRect/>
          </a:stretch>
        </p:blipFill>
        <p:spPr>
          <a:xfrm>
            <a:off x="0" y="-548212"/>
            <a:ext cx="18288000" cy="10835212"/>
          </a:xfrm>
          <a:prstGeom prst="rect">
            <a:avLst/>
          </a:prstGeom>
        </p:spPr>
      </p:pic>
    </p:spTree>
  </p:cSld>
  <p:clrMapOvr>
    <a:masterClrMapping/>
  </p:clrMapOvr>
  <p:timing>
    <p:tnLst>
      <p:par>
        <p:cTn id="1" dur="indefinite" restart="never" nodeType="tmRoot">
          <p:childTnLst>
            <p:video>
              <p:cMediaNode vol="100000">
                <p:cTn id="2" fill="hold" display="0">
                  <p:stCondLst>
                    <p:cond delay="indefinite"/>
                  </p:stCondLst>
                </p:cTn>
                <p:tgtEl>
                  <p:spTgt spid="2"/>
                </p:tgtEl>
              </p:cMediaNode>
            </p:vide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V="1">
            <a:off x="1028695" y="1760761"/>
            <a:ext cx="16230594" cy="38509"/>
          </a:xfrm>
          <a:prstGeom prst="line">
            <a:avLst/>
          </a:prstGeom>
          <a:ln w="9525" cap="flat">
            <a:solidFill>
              <a:srgbClr val="2B2C30"/>
            </a:solidFill>
            <a:prstDash val="solid"/>
            <a:headEnd type="none" w="sm" len="sm"/>
            <a:tailEnd type="none" w="sm" len="sm"/>
          </a:ln>
        </p:spPr>
        <p:txBody>
          <a:bodyPr/>
          <a:lstStyle/>
          <a:p>
            <a:endParaRPr lang="en-US"/>
          </a:p>
        </p:txBody>
      </p:sp>
      <p:sp>
        <p:nvSpPr>
          <p:cNvPr id="3" name="Freeform 3"/>
          <p:cNvSpPr/>
          <p:nvPr/>
        </p:nvSpPr>
        <p:spPr>
          <a:xfrm>
            <a:off x="16960464" y="8959464"/>
            <a:ext cx="1327536" cy="1327536"/>
          </a:xfrm>
          <a:custGeom>
            <a:avLst/>
            <a:gdLst/>
            <a:ahLst/>
            <a:cxnLst/>
            <a:rect l="l" t="t" r="r" b="b"/>
            <a:pathLst>
              <a:path w="1327536" h="1327536">
                <a:moveTo>
                  <a:pt x="0" y="0"/>
                </a:moveTo>
                <a:lnTo>
                  <a:pt x="1327536" y="0"/>
                </a:lnTo>
                <a:lnTo>
                  <a:pt x="1327536" y="1327536"/>
                </a:lnTo>
                <a:lnTo>
                  <a:pt x="0" y="1327536"/>
                </a:lnTo>
                <a:lnTo>
                  <a:pt x="0" y="0"/>
                </a:lnTo>
                <a:close/>
              </a:path>
            </a:pathLst>
          </a:custGeom>
          <a:blipFill>
            <a:blip r:embed="rId3"/>
            <a:stretch>
              <a:fillRect/>
            </a:stretch>
          </a:blipFill>
        </p:spPr>
        <p:txBody>
          <a:bodyPr/>
          <a:lstStyle/>
          <a:p>
            <a:endParaRPr lang="en-US"/>
          </a:p>
        </p:txBody>
      </p:sp>
      <p:sp>
        <p:nvSpPr>
          <p:cNvPr id="4" name="Freeform 4"/>
          <p:cNvSpPr/>
          <p:nvPr/>
        </p:nvSpPr>
        <p:spPr>
          <a:xfrm>
            <a:off x="663768" y="1816034"/>
            <a:ext cx="8360777" cy="7869581"/>
          </a:xfrm>
          <a:custGeom>
            <a:avLst/>
            <a:gdLst/>
            <a:ahLst/>
            <a:cxnLst/>
            <a:rect l="l" t="t" r="r" b="b"/>
            <a:pathLst>
              <a:path w="8360777" h="7869581">
                <a:moveTo>
                  <a:pt x="0" y="0"/>
                </a:moveTo>
                <a:lnTo>
                  <a:pt x="8360777" y="0"/>
                </a:lnTo>
                <a:lnTo>
                  <a:pt x="8360777" y="7869581"/>
                </a:lnTo>
                <a:lnTo>
                  <a:pt x="0" y="7869581"/>
                </a:lnTo>
                <a:lnTo>
                  <a:pt x="0" y="0"/>
                </a:lnTo>
                <a:close/>
              </a:path>
            </a:pathLst>
          </a:custGeom>
          <a:blipFill>
            <a:blip r:embed="rId4"/>
            <a:stretch>
              <a:fillRect/>
            </a:stretch>
          </a:blipFill>
        </p:spPr>
        <p:txBody>
          <a:bodyPr/>
          <a:lstStyle/>
          <a:p>
            <a:endParaRPr lang="en-US"/>
          </a:p>
        </p:txBody>
      </p:sp>
      <p:sp>
        <p:nvSpPr>
          <p:cNvPr id="5" name="Freeform 5"/>
          <p:cNvSpPr/>
          <p:nvPr/>
        </p:nvSpPr>
        <p:spPr>
          <a:xfrm>
            <a:off x="9767962" y="2242119"/>
            <a:ext cx="7856270" cy="6733033"/>
          </a:xfrm>
          <a:custGeom>
            <a:avLst/>
            <a:gdLst/>
            <a:ahLst/>
            <a:cxnLst/>
            <a:rect l="l" t="t" r="r" b="b"/>
            <a:pathLst>
              <a:path w="8075602" h="6733033">
                <a:moveTo>
                  <a:pt x="0" y="0"/>
                </a:moveTo>
                <a:lnTo>
                  <a:pt x="8075602" y="0"/>
                </a:lnTo>
                <a:lnTo>
                  <a:pt x="8075602" y="6733033"/>
                </a:lnTo>
                <a:lnTo>
                  <a:pt x="0" y="6733033"/>
                </a:lnTo>
                <a:lnTo>
                  <a:pt x="0" y="0"/>
                </a:lnTo>
                <a:close/>
              </a:path>
            </a:pathLst>
          </a:custGeom>
          <a:blipFill>
            <a:blip r:embed="rId5"/>
            <a:stretch>
              <a:fillRect l="-2792"/>
            </a:stretch>
          </a:blipFill>
        </p:spPr>
        <p:txBody>
          <a:bodyPr/>
          <a:lstStyle/>
          <a:p>
            <a:endParaRPr lang="en-US" dirty="0"/>
          </a:p>
        </p:txBody>
      </p:sp>
      <p:sp>
        <p:nvSpPr>
          <p:cNvPr id="6" name="TextBox 6"/>
          <p:cNvSpPr txBox="1"/>
          <p:nvPr/>
        </p:nvSpPr>
        <p:spPr>
          <a:xfrm>
            <a:off x="1006871" y="962025"/>
            <a:ext cx="16230600" cy="632049"/>
          </a:xfrm>
          <a:prstGeom prst="rect">
            <a:avLst/>
          </a:prstGeom>
        </p:spPr>
        <p:txBody>
          <a:bodyPr lIns="0" tIns="0" rIns="0" bIns="0" rtlCol="0" anchor="t">
            <a:spAutoFit/>
          </a:bodyPr>
          <a:lstStyle/>
          <a:p>
            <a:pPr algn="l">
              <a:lnSpc>
                <a:spcPts val="5200"/>
              </a:lnSpc>
              <a:spcBef>
                <a:spcPct val="0"/>
              </a:spcBef>
            </a:pPr>
            <a:r>
              <a:rPr lang="en-US" sz="3714" b="1" spc="843">
                <a:solidFill>
                  <a:srgbClr val="2B2C30"/>
                </a:solidFill>
                <a:latin typeface="Playfair Display 2 Bold"/>
                <a:ea typeface="Playfair Display 2 Bold"/>
                <a:cs typeface="Playfair Display 2 Bold"/>
                <a:sym typeface="Playfair Display 2 Bold"/>
              </a:rPr>
              <a:t>METHODOLOGY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3">
            <a:extLst>
              <a:ext uri="{FF2B5EF4-FFF2-40B4-BE49-F238E27FC236}">
                <a16:creationId xmlns:a16="http://schemas.microsoft.com/office/drawing/2014/main" id="{F035148E-FADF-80D7-B355-278C4AA77C9D}"/>
              </a:ext>
            </a:extLst>
          </p:cNvPr>
          <p:cNvGrpSpPr/>
          <p:nvPr/>
        </p:nvGrpSpPr>
        <p:grpSpPr>
          <a:xfrm>
            <a:off x="9725528" y="2057401"/>
            <a:ext cx="1904999" cy="921204"/>
            <a:chOff x="0" y="0"/>
            <a:chExt cx="2070098" cy="1954091"/>
          </a:xfrm>
        </p:grpSpPr>
        <p:sp>
          <p:nvSpPr>
            <p:cNvPr id="18" name="Freeform 4">
              <a:extLst>
                <a:ext uri="{FF2B5EF4-FFF2-40B4-BE49-F238E27FC236}">
                  <a16:creationId xmlns:a16="http://schemas.microsoft.com/office/drawing/2014/main" id="{71B689EA-6996-0341-6E03-11BBB42633FD}"/>
                </a:ext>
              </a:extLst>
            </p:cNvPr>
            <p:cNvSpPr/>
            <p:nvPr/>
          </p:nvSpPr>
          <p:spPr>
            <a:xfrm>
              <a:off x="0" y="0"/>
              <a:ext cx="2070098" cy="1954091"/>
            </a:xfrm>
            <a:custGeom>
              <a:avLst/>
              <a:gdLst/>
              <a:ahLst/>
              <a:cxnLst/>
              <a:rect l="l" t="t" r="r" b="b"/>
              <a:pathLst>
                <a:path w="2070098" h="1954091">
                  <a:moveTo>
                    <a:pt x="21670" y="0"/>
                  </a:moveTo>
                  <a:lnTo>
                    <a:pt x="2048428" y="0"/>
                  </a:lnTo>
                  <a:cubicBezTo>
                    <a:pt x="2060396" y="0"/>
                    <a:pt x="2070098" y="9702"/>
                    <a:pt x="2070098" y="21670"/>
                  </a:cubicBezTo>
                  <a:lnTo>
                    <a:pt x="2070098" y="1932421"/>
                  </a:lnTo>
                  <a:cubicBezTo>
                    <a:pt x="2070098" y="1938168"/>
                    <a:pt x="2067815" y="1943680"/>
                    <a:pt x="2063751" y="1947744"/>
                  </a:cubicBezTo>
                  <a:cubicBezTo>
                    <a:pt x="2059687" y="1951808"/>
                    <a:pt x="2054175" y="1954091"/>
                    <a:pt x="2048428" y="1954091"/>
                  </a:cubicBezTo>
                  <a:lnTo>
                    <a:pt x="21670" y="1954091"/>
                  </a:lnTo>
                  <a:cubicBezTo>
                    <a:pt x="15923" y="1954091"/>
                    <a:pt x="10411" y="1951808"/>
                    <a:pt x="6347" y="1947744"/>
                  </a:cubicBezTo>
                  <a:cubicBezTo>
                    <a:pt x="2283" y="1943680"/>
                    <a:pt x="0" y="1938168"/>
                    <a:pt x="0" y="1932421"/>
                  </a:cubicBezTo>
                  <a:lnTo>
                    <a:pt x="0" y="21670"/>
                  </a:lnTo>
                  <a:cubicBezTo>
                    <a:pt x="0" y="15923"/>
                    <a:pt x="2283" y="10411"/>
                    <a:pt x="6347" y="6347"/>
                  </a:cubicBezTo>
                  <a:cubicBezTo>
                    <a:pt x="10411" y="2283"/>
                    <a:pt x="15923" y="0"/>
                    <a:pt x="21670" y="0"/>
                  </a:cubicBezTo>
                  <a:close/>
                </a:path>
              </a:pathLst>
            </a:custGeom>
            <a:solidFill>
              <a:srgbClr val="A4C9D1"/>
            </a:solidFill>
          </p:spPr>
          <p:txBody>
            <a:bodyPr/>
            <a:lstStyle/>
            <a:p>
              <a:endParaRPr lang="en-US"/>
            </a:p>
          </p:txBody>
        </p:sp>
        <p:sp>
          <p:nvSpPr>
            <p:cNvPr id="19" name="TextBox 5">
              <a:extLst>
                <a:ext uri="{FF2B5EF4-FFF2-40B4-BE49-F238E27FC236}">
                  <a16:creationId xmlns:a16="http://schemas.microsoft.com/office/drawing/2014/main" id="{6F252116-F6A2-D10E-2EDB-829F2F83C131}"/>
                </a:ext>
              </a:extLst>
            </p:cNvPr>
            <p:cNvSpPr txBox="1"/>
            <p:nvPr/>
          </p:nvSpPr>
          <p:spPr>
            <a:xfrm>
              <a:off x="0" y="-76200"/>
              <a:ext cx="2070098" cy="2030291"/>
            </a:xfrm>
            <a:prstGeom prst="rect">
              <a:avLst/>
            </a:prstGeom>
          </p:spPr>
          <p:txBody>
            <a:bodyPr lIns="50800" tIns="50800" rIns="50800" bIns="50800" rtlCol="0" anchor="ctr"/>
            <a:lstStyle/>
            <a:p>
              <a:pPr algn="ctr">
                <a:lnSpc>
                  <a:spcPts val="3450"/>
                </a:lnSpc>
              </a:pPr>
              <a:endParaRPr/>
            </a:p>
          </p:txBody>
        </p:sp>
      </p:grpSp>
      <p:sp>
        <p:nvSpPr>
          <p:cNvPr id="2" name="AutoShape 2"/>
          <p:cNvSpPr/>
          <p:nvPr/>
        </p:nvSpPr>
        <p:spPr>
          <a:xfrm flipV="1">
            <a:off x="1028695" y="1760761"/>
            <a:ext cx="16230594" cy="38509"/>
          </a:xfrm>
          <a:prstGeom prst="line">
            <a:avLst/>
          </a:prstGeom>
          <a:ln w="9525" cap="flat">
            <a:solidFill>
              <a:srgbClr val="2B2C30"/>
            </a:solidFill>
            <a:prstDash val="solid"/>
            <a:headEnd type="none" w="sm" len="sm"/>
            <a:tailEnd type="none" w="sm" len="sm"/>
          </a:ln>
        </p:spPr>
        <p:txBody>
          <a:bodyPr/>
          <a:lstStyle/>
          <a:p>
            <a:endParaRPr lang="en-US"/>
          </a:p>
        </p:txBody>
      </p:sp>
      <p:grpSp>
        <p:nvGrpSpPr>
          <p:cNvPr id="3" name="Group 3"/>
          <p:cNvGrpSpPr/>
          <p:nvPr/>
        </p:nvGrpSpPr>
        <p:grpSpPr>
          <a:xfrm>
            <a:off x="1321610" y="2051344"/>
            <a:ext cx="3239213" cy="921204"/>
            <a:chOff x="0" y="0"/>
            <a:chExt cx="2070098" cy="1954091"/>
          </a:xfrm>
        </p:grpSpPr>
        <p:sp>
          <p:nvSpPr>
            <p:cNvPr id="4" name="Freeform 4"/>
            <p:cNvSpPr/>
            <p:nvPr/>
          </p:nvSpPr>
          <p:spPr>
            <a:xfrm>
              <a:off x="0" y="0"/>
              <a:ext cx="2070098" cy="1954091"/>
            </a:xfrm>
            <a:custGeom>
              <a:avLst/>
              <a:gdLst/>
              <a:ahLst/>
              <a:cxnLst/>
              <a:rect l="l" t="t" r="r" b="b"/>
              <a:pathLst>
                <a:path w="2070098" h="1954091">
                  <a:moveTo>
                    <a:pt x="21670" y="0"/>
                  </a:moveTo>
                  <a:lnTo>
                    <a:pt x="2048428" y="0"/>
                  </a:lnTo>
                  <a:cubicBezTo>
                    <a:pt x="2060396" y="0"/>
                    <a:pt x="2070098" y="9702"/>
                    <a:pt x="2070098" y="21670"/>
                  </a:cubicBezTo>
                  <a:lnTo>
                    <a:pt x="2070098" y="1932421"/>
                  </a:lnTo>
                  <a:cubicBezTo>
                    <a:pt x="2070098" y="1938168"/>
                    <a:pt x="2067815" y="1943680"/>
                    <a:pt x="2063751" y="1947744"/>
                  </a:cubicBezTo>
                  <a:cubicBezTo>
                    <a:pt x="2059687" y="1951808"/>
                    <a:pt x="2054175" y="1954091"/>
                    <a:pt x="2048428" y="1954091"/>
                  </a:cubicBezTo>
                  <a:lnTo>
                    <a:pt x="21670" y="1954091"/>
                  </a:lnTo>
                  <a:cubicBezTo>
                    <a:pt x="15923" y="1954091"/>
                    <a:pt x="10411" y="1951808"/>
                    <a:pt x="6347" y="1947744"/>
                  </a:cubicBezTo>
                  <a:cubicBezTo>
                    <a:pt x="2283" y="1943680"/>
                    <a:pt x="0" y="1938168"/>
                    <a:pt x="0" y="1932421"/>
                  </a:cubicBezTo>
                  <a:lnTo>
                    <a:pt x="0" y="21670"/>
                  </a:lnTo>
                  <a:cubicBezTo>
                    <a:pt x="0" y="15923"/>
                    <a:pt x="2283" y="10411"/>
                    <a:pt x="6347" y="6347"/>
                  </a:cubicBezTo>
                  <a:cubicBezTo>
                    <a:pt x="10411" y="2283"/>
                    <a:pt x="15923" y="0"/>
                    <a:pt x="21670" y="0"/>
                  </a:cubicBezTo>
                  <a:close/>
                </a:path>
              </a:pathLst>
            </a:custGeom>
            <a:solidFill>
              <a:srgbClr val="A4C9D1"/>
            </a:solidFill>
          </p:spPr>
          <p:txBody>
            <a:bodyPr/>
            <a:lstStyle/>
            <a:p>
              <a:endParaRPr lang="en-US"/>
            </a:p>
          </p:txBody>
        </p:sp>
        <p:sp>
          <p:nvSpPr>
            <p:cNvPr id="5" name="TextBox 5"/>
            <p:cNvSpPr txBox="1"/>
            <p:nvPr/>
          </p:nvSpPr>
          <p:spPr>
            <a:xfrm>
              <a:off x="0" y="-76200"/>
              <a:ext cx="2070098" cy="2030291"/>
            </a:xfrm>
            <a:prstGeom prst="rect">
              <a:avLst/>
            </a:prstGeom>
          </p:spPr>
          <p:txBody>
            <a:bodyPr lIns="50800" tIns="50800" rIns="50800" bIns="50800" rtlCol="0" anchor="ctr"/>
            <a:lstStyle/>
            <a:p>
              <a:pPr algn="ctr">
                <a:lnSpc>
                  <a:spcPts val="3450"/>
                </a:lnSpc>
              </a:pPr>
              <a:endParaRPr/>
            </a:p>
          </p:txBody>
        </p:sp>
      </p:grpSp>
      <p:sp>
        <p:nvSpPr>
          <p:cNvPr id="9" name="Freeform 9"/>
          <p:cNvSpPr/>
          <p:nvPr/>
        </p:nvSpPr>
        <p:spPr>
          <a:xfrm>
            <a:off x="16949982" y="8959464"/>
            <a:ext cx="1327536" cy="1327536"/>
          </a:xfrm>
          <a:custGeom>
            <a:avLst/>
            <a:gdLst/>
            <a:ahLst/>
            <a:cxnLst/>
            <a:rect l="l" t="t" r="r" b="b"/>
            <a:pathLst>
              <a:path w="1327536" h="1327536">
                <a:moveTo>
                  <a:pt x="0" y="0"/>
                </a:moveTo>
                <a:lnTo>
                  <a:pt x="1327536" y="0"/>
                </a:lnTo>
                <a:lnTo>
                  <a:pt x="1327536" y="1327536"/>
                </a:lnTo>
                <a:lnTo>
                  <a:pt x="0" y="1327536"/>
                </a:lnTo>
                <a:lnTo>
                  <a:pt x="0" y="0"/>
                </a:lnTo>
                <a:close/>
              </a:path>
            </a:pathLst>
          </a:custGeom>
          <a:blipFill>
            <a:blip r:embed="rId3"/>
            <a:stretch>
              <a:fillRect/>
            </a:stretch>
          </a:blipFill>
        </p:spPr>
        <p:txBody>
          <a:bodyPr/>
          <a:lstStyle/>
          <a:p>
            <a:endParaRPr lang="en-US"/>
          </a:p>
        </p:txBody>
      </p:sp>
      <p:sp>
        <p:nvSpPr>
          <p:cNvPr id="10" name="TextBox 10"/>
          <p:cNvSpPr txBox="1"/>
          <p:nvPr/>
        </p:nvSpPr>
        <p:spPr>
          <a:xfrm>
            <a:off x="1006871" y="962025"/>
            <a:ext cx="16230600" cy="632049"/>
          </a:xfrm>
          <a:prstGeom prst="rect">
            <a:avLst/>
          </a:prstGeom>
        </p:spPr>
        <p:txBody>
          <a:bodyPr lIns="0" tIns="0" rIns="0" bIns="0" rtlCol="0" anchor="t">
            <a:spAutoFit/>
          </a:bodyPr>
          <a:lstStyle/>
          <a:p>
            <a:pPr algn="l">
              <a:lnSpc>
                <a:spcPts val="5200"/>
              </a:lnSpc>
              <a:spcBef>
                <a:spcPct val="0"/>
              </a:spcBef>
            </a:pPr>
            <a:r>
              <a:rPr lang="en-US" sz="3714" b="1" spc="843">
                <a:solidFill>
                  <a:srgbClr val="2B2C30"/>
                </a:solidFill>
                <a:latin typeface="Playfair Display 2 Bold"/>
                <a:ea typeface="Playfair Display 2 Bold"/>
                <a:cs typeface="Playfair Display 2 Bold"/>
                <a:sym typeface="Playfair Display 2 Bold"/>
              </a:rPr>
              <a:t>RESULTS</a:t>
            </a:r>
          </a:p>
        </p:txBody>
      </p:sp>
      <p:sp>
        <p:nvSpPr>
          <p:cNvPr id="11" name="TextBox 11"/>
          <p:cNvSpPr txBox="1"/>
          <p:nvPr/>
        </p:nvSpPr>
        <p:spPr>
          <a:xfrm>
            <a:off x="1308751" y="3213931"/>
            <a:ext cx="6925012" cy="512961"/>
          </a:xfrm>
          <a:prstGeom prst="rect">
            <a:avLst/>
          </a:prstGeom>
        </p:spPr>
        <p:txBody>
          <a:bodyPr lIns="0" tIns="0" rIns="0" bIns="0" rtlCol="0" anchor="t">
            <a:spAutoFit/>
          </a:bodyPr>
          <a:lstStyle/>
          <a:p>
            <a:pPr algn="l">
              <a:lnSpc>
                <a:spcPts val="3960"/>
              </a:lnSpc>
            </a:pPr>
            <a:r>
              <a:rPr lang="en-US" sz="3600" spc="18" dirty="0">
                <a:solidFill>
                  <a:srgbClr val="2B2C30"/>
                </a:solidFill>
                <a:latin typeface="Playfair Display 1"/>
                <a:ea typeface="Playfair Display 1"/>
                <a:cs typeface="Playfair Display 1"/>
                <a:sym typeface="Playfair Display 1"/>
              </a:rPr>
              <a:t>Accuracy</a:t>
            </a:r>
          </a:p>
        </p:txBody>
      </p:sp>
      <p:sp>
        <p:nvSpPr>
          <p:cNvPr id="12" name="TextBox 12"/>
          <p:cNvSpPr txBox="1"/>
          <p:nvPr/>
        </p:nvSpPr>
        <p:spPr>
          <a:xfrm>
            <a:off x="1614830" y="2252496"/>
            <a:ext cx="6947642" cy="606425"/>
          </a:xfrm>
          <a:prstGeom prst="rect">
            <a:avLst/>
          </a:prstGeom>
        </p:spPr>
        <p:txBody>
          <a:bodyPr lIns="0" tIns="0" rIns="0" bIns="0" rtlCol="0" anchor="t">
            <a:spAutoFit/>
          </a:bodyPr>
          <a:lstStyle/>
          <a:p>
            <a:pPr algn="l">
              <a:lnSpc>
                <a:spcPts val="4900"/>
              </a:lnSpc>
            </a:pPr>
            <a:r>
              <a:rPr lang="en-US" sz="3500" b="1">
                <a:solidFill>
                  <a:srgbClr val="2B2C30"/>
                </a:solidFill>
                <a:latin typeface="Playfair Display 2 Bold"/>
                <a:ea typeface="Playfair Display 2 Bold"/>
                <a:cs typeface="Playfair Display 2 Bold"/>
                <a:sym typeface="Playfair Display 2 Bold"/>
              </a:rPr>
              <a:t>Performance</a:t>
            </a:r>
          </a:p>
        </p:txBody>
      </p:sp>
      <p:sp>
        <p:nvSpPr>
          <p:cNvPr id="13" name="TextBox 13"/>
          <p:cNvSpPr txBox="1"/>
          <p:nvPr/>
        </p:nvSpPr>
        <p:spPr>
          <a:xfrm>
            <a:off x="1087002" y="4048238"/>
            <a:ext cx="6947642" cy="3457037"/>
          </a:xfrm>
          <a:prstGeom prst="rect">
            <a:avLst/>
          </a:prstGeom>
        </p:spPr>
        <p:txBody>
          <a:bodyPr lIns="0" tIns="0" rIns="0" bIns="0" rtlCol="0" anchor="t">
            <a:spAutoFit/>
          </a:bodyPr>
          <a:lstStyle/>
          <a:p>
            <a:pPr marL="604515" lvl="1" indent="-302257" algn="l">
              <a:lnSpc>
                <a:spcPts val="3919"/>
              </a:lnSpc>
              <a:buFont typeface="Arial"/>
              <a:buChar char="•"/>
            </a:pPr>
            <a:r>
              <a:rPr lang="en-US" sz="2799" dirty="0">
                <a:solidFill>
                  <a:srgbClr val="2B2C30"/>
                </a:solidFill>
                <a:latin typeface="Playfair Display 2"/>
                <a:ea typeface="Playfair Display 2"/>
                <a:cs typeface="Playfair Display 2"/>
                <a:sym typeface="Playfair Display 2"/>
              </a:rPr>
              <a:t>Incorrect and partially correct responses: CV ~5%</a:t>
            </a:r>
          </a:p>
          <a:p>
            <a:pPr algn="l">
              <a:lnSpc>
                <a:spcPts val="3919"/>
              </a:lnSpc>
            </a:pPr>
            <a:endParaRPr lang="en-US" sz="2799" dirty="0">
              <a:solidFill>
                <a:srgbClr val="2B2C30"/>
              </a:solidFill>
              <a:latin typeface="Playfair Display 2"/>
              <a:ea typeface="Playfair Display 2"/>
              <a:cs typeface="Playfair Display 2"/>
              <a:sym typeface="Playfair Display 2"/>
            </a:endParaRPr>
          </a:p>
          <a:p>
            <a:pPr marL="604515" lvl="1" indent="-302257" algn="l">
              <a:lnSpc>
                <a:spcPts val="3919"/>
              </a:lnSpc>
              <a:buFont typeface="Arial"/>
              <a:buChar char="•"/>
            </a:pPr>
            <a:r>
              <a:rPr lang="en-US" sz="2799" dirty="0">
                <a:solidFill>
                  <a:srgbClr val="2B2C30"/>
                </a:solidFill>
                <a:latin typeface="Playfair Display 2"/>
                <a:ea typeface="Playfair Display 2"/>
                <a:cs typeface="Playfair Display 2"/>
                <a:sym typeface="Playfair Display 2"/>
              </a:rPr>
              <a:t>Correct responses: CV ~50%</a:t>
            </a:r>
          </a:p>
          <a:p>
            <a:pPr algn="l">
              <a:lnSpc>
                <a:spcPts val="3919"/>
              </a:lnSpc>
            </a:pPr>
            <a:endParaRPr lang="en-US" sz="2799" dirty="0">
              <a:solidFill>
                <a:srgbClr val="2B2C30"/>
              </a:solidFill>
              <a:latin typeface="Playfair Display 2"/>
              <a:ea typeface="Playfair Display 2"/>
              <a:cs typeface="Playfair Display 2"/>
              <a:sym typeface="Playfair Display 2"/>
            </a:endParaRPr>
          </a:p>
          <a:p>
            <a:pPr marL="604515" lvl="1" indent="-302257" algn="l">
              <a:lnSpc>
                <a:spcPts val="3919"/>
              </a:lnSpc>
              <a:buFont typeface="Arial"/>
              <a:buChar char="•"/>
            </a:pPr>
            <a:r>
              <a:rPr lang="en-US" sz="2799" dirty="0">
                <a:solidFill>
                  <a:srgbClr val="2B2C30"/>
                </a:solidFill>
                <a:latin typeface="Playfair Display 2"/>
                <a:ea typeface="Playfair Display 2"/>
                <a:cs typeface="Playfair Display 2"/>
                <a:sym typeface="Playfair Display 2"/>
              </a:rPr>
              <a:t>Larger batch sizes </a:t>
            </a:r>
            <a:r>
              <a:rPr lang="en-US" sz="2799" dirty="0">
                <a:solidFill>
                  <a:srgbClr val="2B2C30"/>
                </a:solidFill>
                <a:latin typeface="Playfair Display 2"/>
                <a:ea typeface="Playfair Display 2"/>
                <a:cs typeface="Playfair Display 2"/>
                <a:sym typeface="Wingdings" pitchFamily="2" charset="2"/>
              </a:rPr>
              <a:t> improved</a:t>
            </a:r>
            <a:r>
              <a:rPr lang="en-US" sz="2799" dirty="0">
                <a:solidFill>
                  <a:srgbClr val="2B2C30"/>
                </a:solidFill>
                <a:latin typeface="Playfair Display 2"/>
                <a:ea typeface="Playfair Display 2"/>
                <a:cs typeface="Playfair Display 2"/>
                <a:sym typeface="Playfair Display 2"/>
              </a:rPr>
              <a:t> accuracy </a:t>
            </a:r>
          </a:p>
        </p:txBody>
      </p:sp>
      <p:sp>
        <p:nvSpPr>
          <p:cNvPr id="14" name="TextBox 14"/>
          <p:cNvSpPr txBox="1"/>
          <p:nvPr/>
        </p:nvSpPr>
        <p:spPr>
          <a:xfrm>
            <a:off x="9692410" y="4048238"/>
            <a:ext cx="6947642" cy="2948306"/>
          </a:xfrm>
          <a:prstGeom prst="rect">
            <a:avLst/>
          </a:prstGeom>
        </p:spPr>
        <p:txBody>
          <a:bodyPr lIns="0" tIns="0" rIns="0" bIns="0" rtlCol="0" anchor="t">
            <a:spAutoFit/>
          </a:bodyPr>
          <a:lstStyle/>
          <a:p>
            <a:pPr marL="604515" lvl="1" indent="-302257" algn="l">
              <a:lnSpc>
                <a:spcPts val="3919"/>
              </a:lnSpc>
              <a:buFont typeface="Arial"/>
              <a:buChar char="•"/>
            </a:pPr>
            <a:r>
              <a:rPr lang="en-US" sz="2799" dirty="0">
                <a:solidFill>
                  <a:srgbClr val="2B2C30"/>
                </a:solidFill>
                <a:latin typeface="Playfair Display 2"/>
                <a:ea typeface="Playfair Display 2"/>
                <a:cs typeface="Playfair Display 2"/>
                <a:sym typeface="Playfair Display 2"/>
              </a:rPr>
              <a:t>PETAL conference</a:t>
            </a:r>
          </a:p>
          <a:p>
            <a:pPr marL="1209029" lvl="2" indent="-403010" algn="l">
              <a:lnSpc>
                <a:spcPts val="3919"/>
              </a:lnSpc>
              <a:buFont typeface="Arial"/>
              <a:buChar char="⚬"/>
            </a:pPr>
            <a:r>
              <a:rPr lang="en-US" sz="2799" dirty="0">
                <a:solidFill>
                  <a:srgbClr val="2B2C30"/>
                </a:solidFill>
                <a:latin typeface="Playfair Display 2"/>
                <a:ea typeface="Playfair Display 2"/>
                <a:cs typeface="Playfair Display 2"/>
                <a:sym typeface="Playfair Display 2"/>
              </a:rPr>
              <a:t>Batch size: 10 and 25</a:t>
            </a:r>
          </a:p>
          <a:p>
            <a:pPr algn="l">
              <a:lnSpc>
                <a:spcPts val="3919"/>
              </a:lnSpc>
            </a:pPr>
            <a:endParaRPr lang="en-US" sz="2799" dirty="0">
              <a:solidFill>
                <a:srgbClr val="2B2C30"/>
              </a:solidFill>
              <a:latin typeface="Playfair Display 2"/>
              <a:ea typeface="Playfair Display 2"/>
              <a:cs typeface="Playfair Display 2"/>
              <a:sym typeface="Playfair Display 2"/>
            </a:endParaRPr>
          </a:p>
          <a:p>
            <a:pPr marL="604515" lvl="1" indent="-302257" algn="l">
              <a:lnSpc>
                <a:spcPts val="3919"/>
              </a:lnSpc>
              <a:buFont typeface="Arial"/>
              <a:buChar char="•"/>
            </a:pPr>
            <a:r>
              <a:rPr lang="en-US" sz="2799" dirty="0">
                <a:solidFill>
                  <a:srgbClr val="2B2C30"/>
                </a:solidFill>
                <a:latin typeface="Playfair Display 2"/>
                <a:ea typeface="Playfair Display 2"/>
                <a:cs typeface="Playfair Display 2"/>
                <a:sym typeface="Playfair Display 2"/>
              </a:rPr>
              <a:t>UM law classes</a:t>
            </a:r>
          </a:p>
          <a:p>
            <a:pPr marL="1209029" lvl="2" indent="-403010" algn="l">
              <a:lnSpc>
                <a:spcPts val="3919"/>
              </a:lnSpc>
              <a:buFont typeface="Arial"/>
              <a:buChar char="⚬"/>
            </a:pPr>
            <a:r>
              <a:rPr lang="en-US" sz="2799" dirty="0">
                <a:solidFill>
                  <a:srgbClr val="2B2C30"/>
                </a:solidFill>
                <a:latin typeface="Playfair Display 2"/>
                <a:ea typeface="Playfair Display 2"/>
                <a:cs typeface="Playfair Display 2"/>
                <a:sym typeface="Playfair Display 2"/>
              </a:rPr>
              <a:t>Batch size: 70 and 80</a:t>
            </a:r>
          </a:p>
          <a:p>
            <a:pPr algn="l">
              <a:lnSpc>
                <a:spcPts val="3919"/>
              </a:lnSpc>
            </a:pPr>
            <a:r>
              <a:rPr lang="en-US" sz="2799" dirty="0">
                <a:solidFill>
                  <a:srgbClr val="2B2C30"/>
                </a:solidFill>
                <a:latin typeface="Playfair Display 2"/>
                <a:ea typeface="Playfair Display 2"/>
                <a:cs typeface="Playfair Display 2"/>
                <a:sym typeface="Playfair Display 2"/>
              </a:rPr>
              <a:t> </a:t>
            </a:r>
          </a:p>
        </p:txBody>
      </p:sp>
      <p:sp>
        <p:nvSpPr>
          <p:cNvPr id="15" name="TextBox 15"/>
          <p:cNvSpPr txBox="1"/>
          <p:nvPr/>
        </p:nvSpPr>
        <p:spPr>
          <a:xfrm>
            <a:off x="10002340" y="2252496"/>
            <a:ext cx="6947642" cy="606425"/>
          </a:xfrm>
          <a:prstGeom prst="rect">
            <a:avLst/>
          </a:prstGeom>
        </p:spPr>
        <p:txBody>
          <a:bodyPr lIns="0" tIns="0" rIns="0" bIns="0" rtlCol="0" anchor="t">
            <a:spAutoFit/>
          </a:bodyPr>
          <a:lstStyle/>
          <a:p>
            <a:pPr algn="l">
              <a:lnSpc>
                <a:spcPts val="4900"/>
              </a:lnSpc>
            </a:pPr>
            <a:r>
              <a:rPr lang="en-US" sz="3500" b="1" dirty="0">
                <a:solidFill>
                  <a:srgbClr val="2B2C30"/>
                </a:solidFill>
                <a:latin typeface="Playfair Display 2 Bold"/>
                <a:ea typeface="Playfair Display 2 Bold"/>
                <a:cs typeface="Playfair Display 2 Bold"/>
                <a:sym typeface="Playfair Display 2 Bold"/>
              </a:rPr>
              <a:t>Demos</a:t>
            </a:r>
          </a:p>
        </p:txBody>
      </p:sp>
      <p:sp>
        <p:nvSpPr>
          <p:cNvPr id="16" name="TextBox 16"/>
          <p:cNvSpPr txBox="1"/>
          <p:nvPr/>
        </p:nvSpPr>
        <p:spPr>
          <a:xfrm>
            <a:off x="9725528" y="3213930"/>
            <a:ext cx="6925012" cy="512961"/>
          </a:xfrm>
          <a:prstGeom prst="rect">
            <a:avLst/>
          </a:prstGeom>
        </p:spPr>
        <p:txBody>
          <a:bodyPr lIns="0" tIns="0" rIns="0" bIns="0" rtlCol="0" anchor="t">
            <a:spAutoFit/>
          </a:bodyPr>
          <a:lstStyle/>
          <a:p>
            <a:pPr algn="l">
              <a:lnSpc>
                <a:spcPts val="3960"/>
              </a:lnSpc>
            </a:pPr>
            <a:r>
              <a:rPr lang="en-US" sz="3600" spc="18" dirty="0">
                <a:solidFill>
                  <a:srgbClr val="2B2C30"/>
                </a:solidFill>
                <a:latin typeface="Playfair Display 1"/>
                <a:ea typeface="Playfair Display 1"/>
                <a:cs typeface="Playfair Display 1"/>
                <a:sym typeface="Playfair Display 1"/>
              </a:rPr>
              <a:t>Classrooms and educators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273315" y="2889727"/>
            <a:ext cx="16242893" cy="900430"/>
          </a:xfrm>
          <a:prstGeom prst="rect">
            <a:avLst/>
          </a:prstGeom>
        </p:spPr>
        <p:txBody>
          <a:bodyPr lIns="0" tIns="0" rIns="0" bIns="0" rtlCol="0" anchor="t">
            <a:spAutoFit/>
          </a:bodyPr>
          <a:lstStyle/>
          <a:p>
            <a:pPr algn="l">
              <a:lnSpc>
                <a:spcPts val="7280"/>
              </a:lnSpc>
            </a:pPr>
            <a:r>
              <a:rPr lang="en-US" sz="5600" spc="28">
                <a:solidFill>
                  <a:srgbClr val="2B2C30"/>
                </a:solidFill>
                <a:latin typeface="Playfair Display 1"/>
                <a:ea typeface="Playfair Display 1"/>
                <a:cs typeface="Playfair Display 1"/>
                <a:sym typeface="Playfair Display 1"/>
              </a:rPr>
              <a:t>Real time assessment for responsive teaching</a:t>
            </a:r>
          </a:p>
        </p:txBody>
      </p:sp>
      <p:sp>
        <p:nvSpPr>
          <p:cNvPr id="3" name="AutoShape 3"/>
          <p:cNvSpPr/>
          <p:nvPr/>
        </p:nvSpPr>
        <p:spPr>
          <a:xfrm flipV="1">
            <a:off x="1028695" y="1760761"/>
            <a:ext cx="16230594" cy="38509"/>
          </a:xfrm>
          <a:prstGeom prst="line">
            <a:avLst/>
          </a:prstGeom>
          <a:ln w="9525" cap="flat">
            <a:solidFill>
              <a:srgbClr val="2B2C30"/>
            </a:solidFill>
            <a:prstDash val="solid"/>
            <a:headEnd type="none" w="sm" len="sm"/>
            <a:tailEnd type="none" w="sm" len="sm"/>
          </a:ln>
        </p:spPr>
        <p:txBody>
          <a:bodyPr/>
          <a:lstStyle/>
          <a:p>
            <a:endParaRPr lang="en-US"/>
          </a:p>
        </p:txBody>
      </p:sp>
      <p:sp>
        <p:nvSpPr>
          <p:cNvPr id="4" name="Freeform 4"/>
          <p:cNvSpPr/>
          <p:nvPr/>
        </p:nvSpPr>
        <p:spPr>
          <a:xfrm>
            <a:off x="16531591" y="8594532"/>
            <a:ext cx="1327536" cy="1327536"/>
          </a:xfrm>
          <a:custGeom>
            <a:avLst/>
            <a:gdLst/>
            <a:ahLst/>
            <a:cxnLst/>
            <a:rect l="l" t="t" r="r" b="b"/>
            <a:pathLst>
              <a:path w="1327536" h="1327536">
                <a:moveTo>
                  <a:pt x="0" y="0"/>
                </a:moveTo>
                <a:lnTo>
                  <a:pt x="1327536" y="0"/>
                </a:lnTo>
                <a:lnTo>
                  <a:pt x="1327536" y="1327536"/>
                </a:lnTo>
                <a:lnTo>
                  <a:pt x="0" y="1327536"/>
                </a:lnTo>
                <a:lnTo>
                  <a:pt x="0" y="0"/>
                </a:lnTo>
                <a:close/>
              </a:path>
            </a:pathLst>
          </a:custGeom>
          <a:blipFill>
            <a:blip r:embed="rId3"/>
            <a:stretch>
              <a:fillRect/>
            </a:stretch>
          </a:blipFill>
        </p:spPr>
        <p:txBody>
          <a:bodyPr/>
          <a:lstStyle/>
          <a:p>
            <a:endParaRPr lang="en-US"/>
          </a:p>
        </p:txBody>
      </p:sp>
      <p:sp>
        <p:nvSpPr>
          <p:cNvPr id="5" name="Freeform 5"/>
          <p:cNvSpPr/>
          <p:nvPr/>
        </p:nvSpPr>
        <p:spPr>
          <a:xfrm>
            <a:off x="692644" y="2864407"/>
            <a:ext cx="1066568" cy="998695"/>
          </a:xfrm>
          <a:custGeom>
            <a:avLst/>
            <a:gdLst/>
            <a:ahLst/>
            <a:cxnLst/>
            <a:rect l="l" t="t" r="r" b="b"/>
            <a:pathLst>
              <a:path w="1066568" h="998695">
                <a:moveTo>
                  <a:pt x="0" y="0"/>
                </a:moveTo>
                <a:lnTo>
                  <a:pt x="1066568" y="0"/>
                </a:lnTo>
                <a:lnTo>
                  <a:pt x="1066568" y="998695"/>
                </a:lnTo>
                <a:lnTo>
                  <a:pt x="0" y="99869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TextBox 6"/>
          <p:cNvSpPr txBox="1"/>
          <p:nvPr/>
        </p:nvSpPr>
        <p:spPr>
          <a:xfrm>
            <a:off x="1006871" y="962025"/>
            <a:ext cx="16230600" cy="632049"/>
          </a:xfrm>
          <a:prstGeom prst="rect">
            <a:avLst/>
          </a:prstGeom>
        </p:spPr>
        <p:txBody>
          <a:bodyPr lIns="0" tIns="0" rIns="0" bIns="0" rtlCol="0" anchor="t">
            <a:spAutoFit/>
          </a:bodyPr>
          <a:lstStyle/>
          <a:p>
            <a:pPr algn="l">
              <a:lnSpc>
                <a:spcPts val="5200"/>
              </a:lnSpc>
              <a:spcBef>
                <a:spcPct val="0"/>
              </a:spcBef>
            </a:pPr>
            <a:r>
              <a:rPr lang="en-US" sz="3714" b="1" spc="843">
                <a:solidFill>
                  <a:srgbClr val="2B2C30"/>
                </a:solidFill>
                <a:latin typeface="Playfair Display 2 Bold"/>
                <a:ea typeface="Playfair Display 2 Bold"/>
                <a:cs typeface="Playfair Display 2 Bold"/>
                <a:sym typeface="Playfair Display 2 Bold"/>
              </a:rPr>
              <a:t>CONCLUSION &amp; SIGNIFICANCE</a:t>
            </a:r>
          </a:p>
        </p:txBody>
      </p:sp>
      <p:sp>
        <p:nvSpPr>
          <p:cNvPr id="7" name="TextBox 7"/>
          <p:cNvSpPr txBox="1"/>
          <p:nvPr/>
        </p:nvSpPr>
        <p:spPr>
          <a:xfrm>
            <a:off x="14492305" y="9108073"/>
            <a:ext cx="2205784" cy="368765"/>
          </a:xfrm>
          <a:prstGeom prst="rect">
            <a:avLst/>
          </a:prstGeom>
        </p:spPr>
        <p:txBody>
          <a:bodyPr lIns="0" tIns="0" rIns="0" bIns="0" rtlCol="0" anchor="t">
            <a:spAutoFit/>
          </a:bodyPr>
          <a:lstStyle/>
          <a:p>
            <a:pPr algn="l">
              <a:lnSpc>
                <a:spcPts val="2717"/>
              </a:lnSpc>
            </a:pPr>
            <a:r>
              <a:rPr lang="en-US" sz="2986" spc="14">
                <a:solidFill>
                  <a:srgbClr val="2B2C30"/>
                </a:solidFill>
                <a:latin typeface="Playfair Display 1"/>
                <a:ea typeface="Playfair Display 1"/>
                <a:cs typeface="Playfair Display 1"/>
                <a:sym typeface="Playfair Display 1"/>
              </a:rPr>
              <a:t>ClassInsight</a:t>
            </a:r>
          </a:p>
        </p:txBody>
      </p:sp>
      <p:sp>
        <p:nvSpPr>
          <p:cNvPr id="8" name="TextBox 8"/>
          <p:cNvSpPr txBox="1"/>
          <p:nvPr/>
        </p:nvSpPr>
        <p:spPr>
          <a:xfrm>
            <a:off x="2273315" y="4631373"/>
            <a:ext cx="16242893" cy="900430"/>
          </a:xfrm>
          <a:prstGeom prst="rect">
            <a:avLst/>
          </a:prstGeom>
        </p:spPr>
        <p:txBody>
          <a:bodyPr lIns="0" tIns="0" rIns="0" bIns="0" rtlCol="0" anchor="t">
            <a:spAutoFit/>
          </a:bodyPr>
          <a:lstStyle/>
          <a:p>
            <a:pPr algn="l">
              <a:lnSpc>
                <a:spcPts val="7280"/>
              </a:lnSpc>
            </a:pPr>
            <a:r>
              <a:rPr lang="en-US" sz="5600" spc="28">
                <a:solidFill>
                  <a:srgbClr val="2B2C30"/>
                </a:solidFill>
                <a:latin typeface="Playfair Display 1"/>
                <a:ea typeface="Playfair Display 1"/>
                <a:cs typeface="Playfair Display 1"/>
                <a:sym typeface="Playfair Display 1"/>
              </a:rPr>
              <a:t>Timely feedback improves education</a:t>
            </a:r>
          </a:p>
        </p:txBody>
      </p:sp>
      <p:sp>
        <p:nvSpPr>
          <p:cNvPr id="9" name="Freeform 9"/>
          <p:cNvSpPr/>
          <p:nvPr/>
        </p:nvSpPr>
        <p:spPr>
          <a:xfrm>
            <a:off x="692644" y="4606052"/>
            <a:ext cx="1066568" cy="998695"/>
          </a:xfrm>
          <a:custGeom>
            <a:avLst/>
            <a:gdLst/>
            <a:ahLst/>
            <a:cxnLst/>
            <a:rect l="l" t="t" r="r" b="b"/>
            <a:pathLst>
              <a:path w="1066568" h="998695">
                <a:moveTo>
                  <a:pt x="0" y="0"/>
                </a:moveTo>
                <a:lnTo>
                  <a:pt x="1066568" y="0"/>
                </a:lnTo>
                <a:lnTo>
                  <a:pt x="1066568" y="998696"/>
                </a:lnTo>
                <a:lnTo>
                  <a:pt x="0" y="99869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TextBox 10"/>
          <p:cNvSpPr txBox="1"/>
          <p:nvPr/>
        </p:nvSpPr>
        <p:spPr>
          <a:xfrm>
            <a:off x="2273315" y="6449218"/>
            <a:ext cx="16242893" cy="864404"/>
          </a:xfrm>
          <a:prstGeom prst="rect">
            <a:avLst/>
          </a:prstGeom>
        </p:spPr>
        <p:txBody>
          <a:bodyPr lIns="0" tIns="0" rIns="0" bIns="0" rtlCol="0" anchor="t">
            <a:spAutoFit/>
          </a:bodyPr>
          <a:lstStyle/>
          <a:p>
            <a:pPr algn="l">
              <a:lnSpc>
                <a:spcPts val="7280"/>
              </a:lnSpc>
            </a:pPr>
            <a:r>
              <a:rPr lang="en-US" sz="5600" spc="28" dirty="0">
                <a:solidFill>
                  <a:srgbClr val="2B2C30"/>
                </a:solidFill>
                <a:latin typeface="Playfair Display 1"/>
                <a:ea typeface="Playfair Display 1"/>
                <a:cs typeface="Playfair Display 1"/>
                <a:sym typeface="Playfair Display 1"/>
              </a:rPr>
              <a:t>ClassInsight empowers educators and students</a:t>
            </a:r>
          </a:p>
        </p:txBody>
      </p:sp>
      <p:sp>
        <p:nvSpPr>
          <p:cNvPr id="11" name="Freeform 11"/>
          <p:cNvSpPr/>
          <p:nvPr/>
        </p:nvSpPr>
        <p:spPr>
          <a:xfrm>
            <a:off x="692644" y="6423898"/>
            <a:ext cx="1066568" cy="998695"/>
          </a:xfrm>
          <a:custGeom>
            <a:avLst/>
            <a:gdLst/>
            <a:ahLst/>
            <a:cxnLst/>
            <a:rect l="l" t="t" r="r" b="b"/>
            <a:pathLst>
              <a:path w="1066568" h="998695">
                <a:moveTo>
                  <a:pt x="0" y="0"/>
                </a:moveTo>
                <a:lnTo>
                  <a:pt x="1066568" y="0"/>
                </a:lnTo>
                <a:lnTo>
                  <a:pt x="1066568" y="998695"/>
                </a:lnTo>
                <a:lnTo>
                  <a:pt x="0" y="99869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V="1">
            <a:off x="1004684" y="4794311"/>
            <a:ext cx="16230594" cy="38509"/>
          </a:xfrm>
          <a:prstGeom prst="line">
            <a:avLst/>
          </a:prstGeom>
          <a:ln w="9525" cap="flat">
            <a:solidFill>
              <a:srgbClr val="2B2C30"/>
            </a:solidFill>
            <a:prstDash val="solid"/>
            <a:headEnd type="none" w="sm" len="sm"/>
            <a:tailEnd type="none" w="sm" len="sm"/>
          </a:ln>
        </p:spPr>
        <p:txBody>
          <a:bodyPr/>
          <a:lstStyle/>
          <a:p>
            <a:endParaRPr lang="en-US" dirty="0"/>
          </a:p>
        </p:txBody>
      </p:sp>
      <p:sp>
        <p:nvSpPr>
          <p:cNvPr id="3" name="TextBox 3"/>
          <p:cNvSpPr txBox="1"/>
          <p:nvPr/>
        </p:nvSpPr>
        <p:spPr>
          <a:xfrm>
            <a:off x="915815" y="2120671"/>
            <a:ext cx="16408332" cy="2155270"/>
          </a:xfrm>
          <a:prstGeom prst="rect">
            <a:avLst/>
          </a:prstGeom>
        </p:spPr>
        <p:txBody>
          <a:bodyPr lIns="0" tIns="0" rIns="0" bIns="0" rtlCol="0" anchor="t">
            <a:spAutoFit/>
          </a:bodyPr>
          <a:lstStyle/>
          <a:p>
            <a:pPr algn="l">
              <a:lnSpc>
                <a:spcPts val="8749"/>
              </a:lnSpc>
            </a:pPr>
            <a:r>
              <a:rPr lang="en-US" sz="6999" b="1" spc="34" dirty="0">
                <a:solidFill>
                  <a:srgbClr val="0A3A56"/>
                </a:solidFill>
                <a:latin typeface="Playfair Display 1 Bold"/>
                <a:ea typeface="Playfair Display 1 Bold"/>
                <a:cs typeface="Playfair Display 1 Bold"/>
                <a:sym typeface="Playfair Display 1 Bold"/>
              </a:rPr>
              <a:t>ClassInsight:</a:t>
            </a:r>
            <a:r>
              <a:rPr lang="en-US" sz="6999" spc="34" dirty="0">
                <a:solidFill>
                  <a:srgbClr val="0A3A56"/>
                </a:solidFill>
                <a:latin typeface="Playfair Display 1"/>
                <a:ea typeface="Playfair Display 1"/>
                <a:cs typeface="Playfair Display 1"/>
                <a:sym typeface="Playfair Display 1"/>
              </a:rPr>
              <a:t> </a:t>
            </a:r>
            <a:r>
              <a:rPr lang="en-US" sz="6999" spc="34" dirty="0">
                <a:solidFill>
                  <a:srgbClr val="2B2C30"/>
                </a:solidFill>
                <a:latin typeface="Playfair Display 1"/>
                <a:ea typeface="Playfair Display 1"/>
                <a:cs typeface="Playfair Display 1"/>
                <a:sym typeface="Playfair Display 1"/>
              </a:rPr>
              <a:t>An agentic AIEd application for responsive teaching</a:t>
            </a:r>
          </a:p>
        </p:txBody>
      </p:sp>
      <p:sp>
        <p:nvSpPr>
          <p:cNvPr id="4" name="TextBox 4"/>
          <p:cNvSpPr txBox="1"/>
          <p:nvPr/>
        </p:nvSpPr>
        <p:spPr>
          <a:xfrm>
            <a:off x="6644575" y="5454469"/>
            <a:ext cx="4821130" cy="1098550"/>
          </a:xfrm>
          <a:prstGeom prst="rect">
            <a:avLst/>
          </a:prstGeom>
        </p:spPr>
        <p:txBody>
          <a:bodyPr lIns="0" tIns="0" rIns="0" bIns="0" rtlCol="0" anchor="t">
            <a:spAutoFit/>
          </a:bodyPr>
          <a:lstStyle/>
          <a:p>
            <a:pPr algn="l">
              <a:lnSpc>
                <a:spcPts val="8749"/>
              </a:lnSpc>
            </a:pPr>
            <a:r>
              <a:rPr lang="en-US" sz="6999" b="1" spc="34">
                <a:solidFill>
                  <a:srgbClr val="0A3A56"/>
                </a:solidFill>
                <a:latin typeface="Playfair Display 1 Bold"/>
                <a:ea typeface="Playfair Display 1 Bold"/>
                <a:cs typeface="Playfair Display 1 Bold"/>
                <a:sym typeface="Playfair Display 1 Bold"/>
              </a:rPr>
              <a:t>Thank you!</a:t>
            </a:r>
          </a:p>
        </p:txBody>
      </p:sp>
      <p:sp>
        <p:nvSpPr>
          <p:cNvPr id="5" name="TextBox 5"/>
          <p:cNvSpPr txBox="1"/>
          <p:nvPr/>
        </p:nvSpPr>
        <p:spPr>
          <a:xfrm>
            <a:off x="1016407" y="8041005"/>
            <a:ext cx="7862435" cy="1303020"/>
          </a:xfrm>
          <a:prstGeom prst="rect">
            <a:avLst/>
          </a:prstGeom>
        </p:spPr>
        <p:txBody>
          <a:bodyPr lIns="0" tIns="0" rIns="0" bIns="0" rtlCol="0" anchor="t">
            <a:spAutoFit/>
          </a:bodyPr>
          <a:lstStyle/>
          <a:p>
            <a:pPr algn="l">
              <a:lnSpc>
                <a:spcPts val="3450"/>
              </a:lnSpc>
            </a:pPr>
            <a:r>
              <a:rPr lang="en-US" sz="2300" b="1">
                <a:solidFill>
                  <a:srgbClr val="2B2C30"/>
                </a:solidFill>
                <a:latin typeface="Playfair Display 1 Bold"/>
                <a:ea typeface="Playfair Display 1 Bold"/>
                <a:cs typeface="Playfair Display 1 Bold"/>
                <a:sym typeface="Playfair Display 1 Bold"/>
              </a:rPr>
              <a:t>tkb40@miami.edu</a:t>
            </a:r>
          </a:p>
          <a:p>
            <a:pPr algn="l">
              <a:lnSpc>
                <a:spcPts val="3450"/>
              </a:lnSpc>
            </a:pPr>
            <a:r>
              <a:rPr lang="en-US" sz="2300" b="1">
                <a:solidFill>
                  <a:srgbClr val="2B2C30"/>
                </a:solidFill>
                <a:latin typeface="Playfair Display 1 Bold"/>
                <a:ea typeface="Playfair Display 1 Bold"/>
                <a:cs typeface="Playfair Display 1 Bold"/>
                <a:sym typeface="Playfair Display 1 Bold"/>
              </a:rPr>
              <a:t>M.S. of Data Science</a:t>
            </a:r>
          </a:p>
          <a:p>
            <a:pPr algn="l">
              <a:lnSpc>
                <a:spcPts val="3450"/>
              </a:lnSpc>
            </a:pPr>
            <a:r>
              <a:rPr lang="en-US" sz="2300" b="1">
                <a:solidFill>
                  <a:srgbClr val="2B2C30"/>
                </a:solidFill>
                <a:latin typeface="Playfair Display 1 Bold"/>
                <a:ea typeface="Playfair Display 1 Bold"/>
                <a:cs typeface="Playfair Display 1 Bold"/>
                <a:sym typeface="Playfair Display 1 Bold"/>
              </a:rPr>
              <a:t>University of Miami 2025</a:t>
            </a:r>
          </a:p>
        </p:txBody>
      </p:sp>
      <p:sp>
        <p:nvSpPr>
          <p:cNvPr id="6" name="TextBox 6"/>
          <p:cNvSpPr txBox="1"/>
          <p:nvPr/>
        </p:nvSpPr>
        <p:spPr>
          <a:xfrm>
            <a:off x="763543" y="7189876"/>
            <a:ext cx="16230600" cy="629551"/>
          </a:xfrm>
          <a:prstGeom prst="rect">
            <a:avLst/>
          </a:prstGeom>
        </p:spPr>
        <p:txBody>
          <a:bodyPr lIns="0" tIns="0" rIns="0" bIns="0" rtlCol="0" anchor="t">
            <a:spAutoFit/>
          </a:bodyPr>
          <a:lstStyle/>
          <a:p>
            <a:pPr algn="l">
              <a:lnSpc>
                <a:spcPts val="5200"/>
              </a:lnSpc>
              <a:spcBef>
                <a:spcPct val="0"/>
              </a:spcBef>
            </a:pPr>
            <a:r>
              <a:rPr lang="en-US" sz="3714" b="1" spc="843">
                <a:solidFill>
                  <a:srgbClr val="0A3A56"/>
                </a:solidFill>
                <a:latin typeface="Playfair Display 1 Bold"/>
                <a:ea typeface="Playfair Display 1 Bold"/>
                <a:cs typeface="Playfair Display 1 Bold"/>
                <a:sym typeface="Playfair Display 1 Bold"/>
              </a:rPr>
              <a:t>Talia Berler</a:t>
            </a:r>
          </a:p>
        </p:txBody>
      </p:sp>
      <p:sp>
        <p:nvSpPr>
          <p:cNvPr id="7" name="Freeform 7"/>
          <p:cNvSpPr/>
          <p:nvPr/>
        </p:nvSpPr>
        <p:spPr>
          <a:xfrm>
            <a:off x="16506672" y="8594532"/>
            <a:ext cx="1327536" cy="1327536"/>
          </a:xfrm>
          <a:custGeom>
            <a:avLst/>
            <a:gdLst/>
            <a:ahLst/>
            <a:cxnLst/>
            <a:rect l="l" t="t" r="r" b="b"/>
            <a:pathLst>
              <a:path w="1327536" h="1327536">
                <a:moveTo>
                  <a:pt x="0" y="0"/>
                </a:moveTo>
                <a:lnTo>
                  <a:pt x="1327536" y="0"/>
                </a:lnTo>
                <a:lnTo>
                  <a:pt x="1327536" y="1327536"/>
                </a:lnTo>
                <a:lnTo>
                  <a:pt x="0" y="1327536"/>
                </a:lnTo>
                <a:lnTo>
                  <a:pt x="0" y="0"/>
                </a:lnTo>
                <a:close/>
              </a:path>
            </a:pathLst>
          </a:custGeom>
          <a:blipFill>
            <a:blip r:embed="rId3"/>
            <a:stretch>
              <a:fillRect/>
            </a:stretch>
          </a:blipFill>
        </p:spPr>
        <p:txBody>
          <a:bodyPr/>
          <a:lstStyle/>
          <a:p>
            <a:endParaRPr lang="en-US"/>
          </a:p>
        </p:txBody>
      </p:sp>
      <p:sp>
        <p:nvSpPr>
          <p:cNvPr id="8" name="TextBox 8"/>
          <p:cNvSpPr txBox="1"/>
          <p:nvPr/>
        </p:nvSpPr>
        <p:spPr>
          <a:xfrm>
            <a:off x="14467387" y="9108073"/>
            <a:ext cx="2205784" cy="368765"/>
          </a:xfrm>
          <a:prstGeom prst="rect">
            <a:avLst/>
          </a:prstGeom>
        </p:spPr>
        <p:txBody>
          <a:bodyPr lIns="0" tIns="0" rIns="0" bIns="0" rtlCol="0" anchor="t">
            <a:spAutoFit/>
          </a:bodyPr>
          <a:lstStyle/>
          <a:p>
            <a:pPr algn="l">
              <a:lnSpc>
                <a:spcPts val="2717"/>
              </a:lnSpc>
            </a:pPr>
            <a:r>
              <a:rPr lang="en-US" sz="2986" spc="14">
                <a:solidFill>
                  <a:srgbClr val="2B2C30"/>
                </a:solidFill>
                <a:latin typeface="Playfair Display 1"/>
                <a:ea typeface="Playfair Display 1"/>
                <a:cs typeface="Playfair Display 1"/>
                <a:sym typeface="Playfair Display 1"/>
              </a:rPr>
              <a:t>ClassInsight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146</TotalTime>
  <Words>794</Words>
  <Application>Microsoft Macintosh PowerPoint</Application>
  <PresentationFormat>Custom</PresentationFormat>
  <Paragraphs>117</Paragraphs>
  <Slides>9</Slides>
  <Notes>9</Notes>
  <HiddenSlides>0</HiddenSlides>
  <MMClips>1</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Playfair Display 2</vt:lpstr>
      <vt:lpstr>Aptos</vt:lpstr>
      <vt:lpstr>Playfair Display 1</vt:lpstr>
      <vt:lpstr>Google Sans</vt:lpstr>
      <vt:lpstr>Playfair Display 2 Bold</vt:lpstr>
      <vt:lpstr>Arial</vt:lpstr>
      <vt:lpstr>Playfair Display 1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ClassInsight_Grad_Symposium</dc:title>
  <cp:lastModifiedBy>Berler, Talia Kip</cp:lastModifiedBy>
  <cp:revision>21</cp:revision>
  <dcterms:created xsi:type="dcterms:W3CDTF">2006-08-16T00:00:00Z</dcterms:created>
  <dcterms:modified xsi:type="dcterms:W3CDTF">2025-03-23T20:24:56Z</dcterms:modified>
  <dc:identifier>DAGh_T8bYF4</dc:identifier>
</cp:coreProperties>
</file>